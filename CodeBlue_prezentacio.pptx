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1"/>
  </p:normalViewPr>
  <p:slideViewPr>
    <p:cSldViewPr snapToGrid="0">
      <p:cViewPr varScale="1">
        <p:scale>
          <a:sx n="91" d="100"/>
          <a:sy n="91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CodeBlue egy egészségügyi témájú, körökre osztott gazdasági társasjáték. A bemutató az október 26–29. között a develop ágra került munkát foglalja össze. A borító a projekt saját, generált játékillusztrációját használja; nem valós klinikáról készült fotó.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https://github.com/Uni-Sopron/codeblue/blob/b0d3629c16c24e5b4f1c1e6126f479dee76a6b69/README.md</a:t>
            </a:r>
          </a:p>
          <a:p>
            <a:r>
              <a:t>https://github.com/Uni-Sopron/codeblue/blob/b0d3629c16c24e5b4f1c1e6126f479dee76a6b69/public/assets/board_center.jpg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három győzelmi feltételnek egyszerre kell teljesülnie. A játékos dob, lép, kezeli az eseményeket és a pénzügyeit, majd a megfelelő előfeltételekkel részlegeket épít. Az online módban a szobakezelés és az állapotszinkron Socket.IO-val működik. A képernyőkép az október 28-i botverzióról készült; a későbbi felület további finomításokat kapott. A KK a játék pénzneme.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https://github.com/Uni-Sopron/codeblue/blob/b0d3629c16c24e5b4f1c1e6126f479dee76a6b69/src/hooks/useGameEngine.ts</a:t>
            </a:r>
          </a:p>
          <a:p>
            <a:r>
              <a:t>https://github.com/Uni-Sopron/codeblue/blob/b0d3629c16c24e5b4f1c1e6126f479dee76a6b69/src/data/tiles.ts</a:t>
            </a:r>
          </a:p>
          <a:p>
            <a:r>
              <a:t>https://github.com/Uni-Sopron/codeblue/blob/b0d3629c16c24e5b4f1c1e6126f479dee76a6b69/src/data/cards.ts</a:t>
            </a:r>
          </a:p>
          <a:p>
            <a:r>
              <a:t>https://github.com/Uni-Sopron/codeblue/blob/b0d3629c16c24e5b4f1c1e6126f479dee76a6b69/src/data/clinicElements.ts</a:t>
            </a:r>
          </a:p>
          <a:p>
            <a:r>
              <a:t>https://github.com/Uni-Sopron/codeblue/issues/20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Névazonosítás a README készítői és a GitHub-történet alapján: Petya122 = Wild Péter; mrkmrv = Morvai Márkó (a commitokban Morvai Markó); mdzseni = Moldicz Dzsenifer Fanni (merge commitokban Moldicz Dzseni). A táblázat fő felelősségi területeket mutat, nem kizárólagos szerzőséget. Wild Péter később a botokat, mobilfelületet és a hangokat is továbbfejlesztette. Dzseni egyes implementáló commitjainak GitHub-author mezője üres; az mdzseni commit-szerző, az issue-hozzárendelés és a PR-szerzőség együtt támasztja alá az azonosítást. Nem a merge gomb megnyomásából következtettünk megvalósításra.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https://github.com/Uni-Sopron/codeblue/blob/b0d3629c16c24e5b4f1c1e6126f479dee76a6b69/README.md</a:t>
            </a:r>
          </a:p>
          <a:p>
            <a:r>
              <a:t>https://github.com/Uni-Sopron/codeblue/issues/1</a:t>
            </a:r>
          </a:p>
          <a:p>
            <a:r>
              <a:t>https://github.com/Uni-Sopron/codeblue/issues/2</a:t>
            </a:r>
          </a:p>
          <a:p>
            <a:r>
              <a:t>https://github.com/Uni-Sopron/codeblue/issues/3</a:t>
            </a:r>
          </a:p>
          <a:p>
            <a:r>
              <a:t>https://github.com/Uni-Sopron/codeblue/issues/4</a:t>
            </a:r>
          </a:p>
          <a:p>
            <a:r>
              <a:t>https://github.com/Uni-Sopron/codeblue/issues/5</a:t>
            </a:r>
          </a:p>
          <a:p>
            <a:r>
              <a:t>https://github.com/Uni-Sopron/codeblue/issues/6</a:t>
            </a:r>
          </a:p>
          <a:p>
            <a:r>
              <a:t>https://github.com/Uni-Sopron/codeblue/issues/7</a:t>
            </a:r>
          </a:p>
          <a:p>
            <a:r>
              <a:t>https://github.com/Uni-Sopron/codeblue/issues/14</a:t>
            </a:r>
          </a:p>
          <a:p>
            <a:r>
              <a:t>https://github.com/Uni-Sopron/codeblue/issues/15</a:t>
            </a:r>
          </a:p>
          <a:p>
            <a:r>
              <a:t>https://github.com/Uni-Sopron/codeblue/issues/16</a:t>
            </a:r>
          </a:p>
          <a:p>
            <a:r>
              <a:t>https://github.com/Uni-Sopron/codeblue/issues/19</a:t>
            </a:r>
          </a:p>
          <a:p>
            <a:r>
              <a:t>https://github.com/Uni-Sopron/codeblue/issues/20</a:t>
            </a:r>
          </a:p>
          <a:p>
            <a:r>
              <a:t>https://github.com/Uni-Sopron/codeblue/pull/25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Október 26-i, Budapest szerinti commitnap: Wild Péter létrehozta a Vite/React/TypeScript alapot, típusokat, táblát, vizuális elemeket, majd összeillesztette az ágakat és megvalósította az online állapotszinkront, statikus kiszolgálást és Docker-kapcsolatot. Morvai Márkó a játékadatokat, a useGameEngine hookot és az alap UI-paneleket készítette. Moldicz Dzsenifer Fanni a zsűri tesztpanelt és négy procedurális alaphangot készítette: dobás, pénzmozgás, kártyahúzás, győzelem. A panel neve később Fejlesztői Módra változott; ezt a napot a korabeli névvel mutatjuk.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https://github.com/Uni-Sopron/codeblue/commit/a7b14e3c31053583ffe53c45a22c24f3004ad783</a:t>
            </a:r>
          </a:p>
          <a:p>
            <a:r>
              <a:t>https://github.com/Uni-Sopron/codeblue/commit/efacb01d8e029e4685527e122bda6dbbb76db74b</a:t>
            </a:r>
          </a:p>
          <a:p>
            <a:r>
              <a:t>https://github.com/Uni-Sopron/codeblue/commit/7f5fdd4193784c5de22e1c9d0924b2d512af9835</a:t>
            </a:r>
          </a:p>
          <a:p>
            <a:r>
              <a:t>https://github.com/Uni-Sopron/codeblue/commit/a9df06203467dfc82a88927341c8f4092a6ad3a9</a:t>
            </a:r>
          </a:p>
          <a:p>
            <a:r>
              <a:t>https://github.com/Uni-Sopron/codeblue/commit/daa16e230e5942e52a440046493e6840884cef45</a:t>
            </a:r>
          </a:p>
          <a:p>
            <a:r>
              <a:t>https://github.com/Uni-Sopron/codeblue/commit/9e75ef3320e516c820c79184af586f52e163202e</a:t>
            </a:r>
          </a:p>
          <a:p>
            <a:r>
              <a:t>https://github.com/Uni-Sopron/codeblue/commit/02b432bd4368e6a3e1e829147dcd3e70d61453a4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minimalista táblafelület Morvai Márkó munkája (commit 11e9e2a, PR #13), a favicon és böngészőfül-arculat Wild Péteré (5994e2b, PR #12). Dzseni két UI-javítása: a játékoskártyák elrendezése (#8, PR #17) és a menücímek térköze (#10, PR #18). A képek az elkészült javításokat mutatják, nem előtte–utána összehasonlítások.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https://github.com/Uni-Sopron/codeblue/issues/8</a:t>
            </a:r>
          </a:p>
          <a:p>
            <a:r>
              <a:t>https://github.com/Uni-Sopron/codeblue/issues/9</a:t>
            </a:r>
          </a:p>
          <a:p>
            <a:r>
              <a:t>https://github.com/Uni-Sopron/codeblue/issues/10</a:t>
            </a:r>
          </a:p>
          <a:p>
            <a:r>
              <a:t>https://github.com/Uni-Sopron/codeblue/issues/11</a:t>
            </a:r>
          </a:p>
          <a:p>
            <a:r>
              <a:t>https://github.com/Uni-Sopron/codeblue/pull/12</a:t>
            </a:r>
          </a:p>
          <a:p>
            <a:r>
              <a:t>https://github.com/Uni-Sopron/codeblue/pull/13</a:t>
            </a:r>
          </a:p>
          <a:p>
            <a:r>
              <a:t>https://github.com/Uni-Sopron/codeblue/pull/17</a:t>
            </a:r>
          </a:p>
          <a:p>
            <a:r>
              <a:t>https://github.com/Uni-Sopron/codeblue/pull/18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#14: nyolc önálló részleg-illusztráció; zárolt, megvásárolható és felépült állapotok; interaktív klinikatervrajz; billentyűzetes fókuszkezelés. #15: három banki fül, megtakarítási betétek és egészségügyi befektetések, kamatszámítás és pénzügyi védelmek. A bank és klinika alappaneljeit korábban Márkó készítette; az itt bemutatott átdolgozás Dzseni munkája. A generált illusztrációk a projekt saját assetjei. Mindkét bővítés október 28-án került developra.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https://github.com/Uni-Sopron/codeblue/issues/14</a:t>
            </a:r>
          </a:p>
          <a:p>
            <a:r>
              <a:t>https://github.com/Uni-Sopron/codeblue/issues/15</a:t>
            </a:r>
          </a:p>
          <a:p>
            <a:r>
              <a:t>https://github.com/Uni-Sopron/codeblue/pull/21</a:t>
            </a:r>
          </a:p>
          <a:p>
            <a:r>
              <a:t>https://github.com/Uni-Sopron/codeblue/pull/22</a:t>
            </a:r>
          </a:p>
          <a:p>
            <a:r>
              <a:t>https://github.com/Uni-Sopron/codeblue/commit/5adf23326513c596e13ea93aaadcf298df1af8d1</a:t>
            </a:r>
          </a:p>
          <a:p>
            <a:r>
              <a:t>https://github.com/Uni-Sopron/codeblue/commit/f0d29b7679185856356dcfb21e52d359a1a40144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Dzseni: #19 nyilvános szobalista, public/private mód, PIN-védelem; #20 helyi és online botjáték, hosztoldali vezérlés, botok hozzáadása és eltávolítása. A botok determinisztikus szabályokat és heurisztikákat használnak; nem külső nyelvi modellre/API-ra támaszkodnak. Péter: #16 szobaéletciklus, rematch/ready-check, offline és visszacsatlakozási kezelés; később botdemó-presetek, botmegtakarítás, mentőmező extra dobás, billentyűzet és mobilfelület javítása. Az eredeti négy hanghoz építés, sziréna és büntetés társult, így a nap végére hét procedurális hanghatás szerepel a dokumentációban. A kép a déli botverzió állapotát mutatja.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https://github.com/Uni-Sopron/codeblue/issues/16</a:t>
            </a:r>
          </a:p>
          <a:p>
            <a:r>
              <a:t>https://github.com/Uni-Sopron/codeblue/issues/19</a:t>
            </a:r>
          </a:p>
          <a:p>
            <a:r>
              <a:t>https://github.com/Uni-Sopron/codeblue/issues/20</a:t>
            </a:r>
          </a:p>
          <a:p>
            <a:r>
              <a:t>https://github.com/Uni-Sopron/codeblue/pull/24</a:t>
            </a:r>
          </a:p>
          <a:p>
            <a:r>
              <a:t>https://github.com/Uni-Sopron/codeblue/pull/25</a:t>
            </a:r>
          </a:p>
          <a:p>
            <a:r>
              <a:t>https://github.com/Uni-Sopron/codeblue/commit/340d4aa439eb3f1c0bdafcc51b98395b49c9153f</a:t>
            </a:r>
          </a:p>
          <a:p>
            <a:r>
              <a:t>https://github.com/Uni-Sopron/codeblue/commit/6e00e4c401663c347ad8c9dfe6cbc28a427b4bb7</a:t>
            </a:r>
          </a:p>
          <a:p>
            <a:r>
              <a:t>https://github.com/Uni-Sopron/codeblue/commit/c87a97e9d3664fcddc11cc2f974254b20a3ff2f5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Október 29-én Wild Péter 09:29:41 Budapest idővel jelszóvédelmet és alapból rejtett fejlesztői fejlécgombot commitolt, dokumentációfrissítéssel (ed3cb67). 10:02:10-kor névtelen spectator módot, valós idejű nézőszámlálót és lobbybeli nézőgombokat commitolt (b0d3629). A prezentáció a távoli develop történetét dokumentálja; ezekről a legfrissebb változásokról nem állít külön vizuális vagy éles üzemi ellenőrzést. A panel korábbi neve Zsűri Mód volt. A hozzáférési jelszót szándékosan nem tesszük a vetített diára.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https://github.com/Uni-Sopron/codeblue/commit/ed3cb6771b3cebcbbca97a30050db4b4f8f89823</a:t>
            </a:r>
          </a:p>
          <a:p>
            <a:r>
              <a:t>https://github.com/Uni-Sopron/codeblue/commit/b0d3629c16c24e5b4f1c1e6126f479dee76a6b69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technológiai összefoglalót a frontend és szerver package.json, a Dockerfile, a compose-konfiguráció, a README és a botforrás támasztja alá. Frontend: React, TypeScript, Vite és Lucide; saját CSS; procedurális Web Audio. Szerver: Node.js/Express és Socket.IO; nincs szükség külső AI-szolgáltatásra a botok döntéseihez. Infrastruktúra: Docker/Compose, a README szerint Oracle Cloud és Caddy HTTPS proxy. A szerver a frontend statikus buildjét is kiszolgálja. Az automatizált tesztek a Node beépített tesztfuttatóját használják; a lint és build külön npm-lépés. A prezentáció kedvéért nem módosítottuk a repót és nem futtattuk újra az időközben bővült teljes tesztkészletet; itt az alkalmazott ellenőrzési módszereket mutatjuk.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https://github.com/Uni-Sopron/codeblue/blob/b0d3629c16c24e5b4f1c1e6126f479dee76a6b69/package.json</a:t>
            </a:r>
          </a:p>
          <a:p>
            <a:r>
              <a:t>https://github.com/Uni-Sopron/codeblue/blob/b0d3629c16c24e5b4f1c1e6126f479dee76a6b69/server/package.json</a:t>
            </a:r>
          </a:p>
          <a:p>
            <a:r>
              <a:t>https://github.com/Uni-Sopron/codeblue/blob/b0d3629c16c24e5b4f1c1e6126f479dee76a6b69/server/Dockerfile</a:t>
            </a:r>
          </a:p>
          <a:p>
            <a:r>
              <a:t>https://github.com/Uni-Sopron/codeblue/blob/b0d3629c16c24e5b4f1c1e6126f479dee76a6b69/docker-compose.yml</a:t>
            </a:r>
          </a:p>
          <a:p>
            <a:r>
              <a:t>https://github.com/Uni-Sopron/codeblue/blob/b0d3629c16c24e5b4f1c1e6126f479dee76a6b69/README.md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Az API-lekérdezéskor 16 tényleges GitHub issue volt a repóban, mind lezárt; a pull requesteket nem számoltuk issue-ként. A négy fejlesztési nap a commitokkal dokumentált 2026. október 26–29. A megadott élő cím a README szerinti projektcím; nem a legújabb commit éles telepítésének igazolása. Rövid demójavaslat: 1. helyi játék indítása botokkal; 2. klinika és bank megnyitása; 3. online lobby és nézői lehetőség bemutatása. Az AI-eszközök feltüntetése a jelen beszélgetésben bizonyítható használatra vonatkozik: Codex-fejlesztési segítség és generált bank-/részlegillusztrációk. A csapattársak esetleges további AI-eszközeit nem feltételezzük. Ez az eszközhasználat különbözik a játékon belüli, szabályalapú botoktól.</a:t>
            </a:r>
          </a:p>
          <a:p>
            <a:endParaRPr/>
          </a:p>
          <a:p>
            <a:r>
              <a:t>Források (ellenőrizve: 2026. október 29., Europe/Budapest):</a:t>
            </a:r>
          </a:p>
          <a:p>
            <a:r>
              <a:t>https://github.com/Uni-Sopron/codeblue/issues?q=is%3Aissue</a:t>
            </a:r>
          </a:p>
          <a:p>
            <a:r>
              <a:t>https://github.com/Uni-Sopron/codeblue/commits/develop</a:t>
            </a:r>
          </a:p>
          <a:p>
            <a:r>
              <a:t>https://github.com/Uni-Sopron/codeblue/blob/b0d3629c16c24e5b4f1c1e6126f479dee76a6b69/README.md</a:t>
            </a:r>
          </a:p>
          <a:p>
            <a:r>
              <a:t>https://codeblue.branchlab.tech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33A14A-9A78-4F8D-AC50-B27CCCCC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40EB8A-4BB4-439E-B8D6-E2778D211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10AD5-96FF-4D4D-BE3A-C0DF3EA1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2500B8D-5656-4582-BA9A-75FA7B6F9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832CD6B-4C05-46E5-91EA-F78541E15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E3D8DCB-942D-43F8-929E-932C6E24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9633A24-013D-401F-8119-BCB562753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65EB0C4-47DF-4317-A966-CD87AE439EF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C502C22-3F4E-4205-A3EB-7C6735FA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E2B022-1741-45C2-92EC-666F4401A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blue.branchlab.tec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Uni-Sopron/codebl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8FF502-D069-4223-AF88-8C1515A50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6" r="5556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CodeBlue">
            <a:extLst>
              <a:ext uri="{FF2B5EF4-FFF2-40B4-BE49-F238E27FC236}">
                <a16:creationId xmlns:a16="http://schemas.microsoft.com/office/drawing/2014/main" id="{0ED3DF33-B5DA-4BDA-9AB0-B3510F76E90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2197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CodeBlue</a:t>
            </a:r>
          </a:p>
        </p:txBody>
      </p:sp>
      <p:sp>
        <p:nvSpPr>
          <p:cNvPr id="3" name="Magánklinika">
            <a:extLst>
              <a:ext uri="{FF2B5EF4-FFF2-40B4-BE49-F238E27FC236}">
                <a16:creationId xmlns:a16="http://schemas.microsoft.com/office/drawing/2014/main" id="{3C72499A-7CB9-4EF6-9B6F-A74C1E6CAE32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Magánklinika</a:t>
            </a:r>
          </a:p>
        </p:txBody>
      </p:sp>
      <p:sp>
        <p:nvSpPr>
          <p:cNvPr id="4" name="Digitális gazdasági társasjáték">
            <a:extLst>
              <a:ext uri="{FF2B5EF4-FFF2-40B4-BE49-F238E27FC236}">
                <a16:creationId xmlns:a16="http://schemas.microsoft.com/office/drawing/2014/main" id="{4638CED1-7E11-4B15-9B4F-B735DFD63926}"/>
              </a:ext>
            </a:extLst>
          </p:cNvPr>
          <p:cNvSpPr>
            <a:spLocks noGrp="1"/>
          </p:cNvSpPr>
          <p:nvPr/>
        </p:nvSpPr>
        <p:spPr>
          <a:xfrm>
            <a:off x="647700" y="3543300"/>
            <a:ext cx="4876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Digitális gazdasági társasjáték</a:t>
            </a:r>
          </a:p>
        </p:txBody>
      </p:sp>
      <p:sp>
        <p:nvSpPr>
          <p:cNvPr id="5" name="Soproni Egyetem · Hackathon 2026 Október 26–29.">
            <a:extLst>
              <a:ext uri="{FF2B5EF4-FFF2-40B4-BE49-F238E27FC236}">
                <a16:creationId xmlns:a16="http://schemas.microsoft.com/office/drawing/2014/main" id="{D242F8A4-AAF1-4215-82E0-A71B0B8E9BBC}"/>
              </a:ext>
            </a:extLst>
          </p:cNvPr>
          <p:cNvSpPr>
            <a:spLocks noGrp="1"/>
          </p:cNvSpPr>
          <p:nvPr/>
        </p:nvSpPr>
        <p:spPr>
          <a:xfrm>
            <a:off x="647700" y="4819650"/>
            <a:ext cx="4876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Soproni Egyetem · Hackathon 2026</a:t>
            </a:r>
          </a:p>
          <a:p>
            <a: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Október 26–29.</a:t>
            </a:r>
          </a:p>
        </p:txBody>
      </p:sp>
      <p:sp>
        <p:nvSpPr>
          <p:cNvPr id="6" name="Wild Péter · Morvai Márkó Moldicz Dzsenifer Fanni">
            <a:extLst>
              <a:ext uri="{FF2B5EF4-FFF2-40B4-BE49-F238E27FC236}">
                <a16:creationId xmlns:a16="http://schemas.microsoft.com/office/drawing/2014/main" id="{BB63F562-C59C-4C59-A2E6-75EE6F36199E}"/>
              </a:ext>
            </a:extLst>
          </p:cNvPr>
          <p:cNvSpPr>
            <a:spLocks noGrp="1"/>
          </p:cNvSpPr>
          <p:nvPr/>
        </p:nvSpPr>
        <p:spPr>
          <a:xfrm>
            <a:off x="647700" y="5915025"/>
            <a:ext cx="4876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Wild Péter · Morvai Márkó</a:t>
            </a:r>
          </a:p>
          <a:p>
            <a: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Moldicz Dzsenifer Fanni</a:t>
            </a:r>
          </a:p>
        </p:txBody>
      </p:sp>
    </p:spTree>
    <p:extLst>
      <p:ext uri="{BB962C8B-B14F-4D97-AF65-F5344CB8AC3E}">
        <p14:creationId xmlns:p14="http://schemas.microsoft.com/office/powerpoint/2010/main" val="202937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Építsd fel a saját magánklinikádat">
            <a:extLst>
              <a:ext uri="{FF2B5EF4-FFF2-40B4-BE49-F238E27FC236}">
                <a16:creationId xmlns:a16="http://schemas.microsoft.com/office/drawing/2014/main" id="{BD0A5278-EB28-4E97-B2FC-4F9B86A4C57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Építsd fel a saját magánklinikádat</a:t>
            </a:r>
          </a:p>
        </p:txBody>
      </p:sp>
      <p:sp>
        <p:nvSpPr>
          <p:cNvPr id="2" name="2–4 játékos · helyben vagy online · botokkal is">
            <a:extLst>
              <a:ext uri="{FF2B5EF4-FFF2-40B4-BE49-F238E27FC236}">
                <a16:creationId xmlns:a16="http://schemas.microsoft.com/office/drawing/2014/main" id="{23F02A45-9720-4DB8-87CE-9E011DF8E7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2–4 játékos · helyben vagy online · botokkal is</a:t>
            </a:r>
          </a:p>
        </p:txBody>
      </p:sp>
      <p:sp>
        <p:nvSpPr>
          <p:cNvPr id="3" name="8 / 8">
            <a:extLst>
              <a:ext uri="{FF2B5EF4-FFF2-40B4-BE49-F238E27FC236}">
                <a16:creationId xmlns:a16="http://schemas.microsoft.com/office/drawing/2014/main" id="{08DE03A7-BC5D-4279-BD84-8B602EDE1807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  <p:sp>
        <p:nvSpPr>
          <p:cNvPr id="4" name="felépített részleg">
            <a:extLst>
              <a:ext uri="{FF2B5EF4-FFF2-40B4-BE49-F238E27FC236}">
                <a16:creationId xmlns:a16="http://schemas.microsoft.com/office/drawing/2014/main" id="{2164B1DD-B8D7-4924-B9C1-B5412CEDB0C2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felépített részleg</a:t>
            </a:r>
          </a:p>
        </p:txBody>
      </p:sp>
      <p:sp>
        <p:nvSpPr>
          <p:cNvPr id="5" name="1 millió KK">
            <a:extLst>
              <a:ext uri="{FF2B5EF4-FFF2-40B4-BE49-F238E27FC236}">
                <a16:creationId xmlns:a16="http://schemas.microsoft.com/office/drawing/2014/main" id="{1E9E88D0-F3C0-4D4C-91AC-78C900C13D25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4191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1 millió KK</a:t>
            </a:r>
          </a:p>
        </p:txBody>
      </p:sp>
      <p:sp>
        <p:nvSpPr>
          <p:cNvPr id="6" name="legalább ennyi tartalék">
            <a:extLst>
              <a:ext uri="{FF2B5EF4-FFF2-40B4-BE49-F238E27FC236}">
                <a16:creationId xmlns:a16="http://schemas.microsoft.com/office/drawing/2014/main" id="{F6DD259C-07DE-4446-9884-0EBF559C5F20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legalább ennyi tartalék</a:t>
            </a:r>
          </a:p>
        </p:txBody>
      </p:sp>
      <p:sp>
        <p:nvSpPr>
          <p:cNvPr id="7" name="0 KK">
            <a:extLst>
              <a:ext uri="{FF2B5EF4-FFF2-40B4-BE49-F238E27FC236}">
                <a16:creationId xmlns:a16="http://schemas.microsoft.com/office/drawing/2014/main" id="{E3599B67-68A3-401B-AEAE-877F830CAF79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42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 KK</a:t>
            </a:r>
          </a:p>
        </p:txBody>
      </p:sp>
      <p:sp>
        <p:nvSpPr>
          <p:cNvPr id="8" name="fennálló hiteltartozás">
            <a:extLst>
              <a:ext uri="{FF2B5EF4-FFF2-40B4-BE49-F238E27FC236}">
                <a16:creationId xmlns:a16="http://schemas.microsoft.com/office/drawing/2014/main" id="{23EA5920-5671-4624-A653-9EE4556B7997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fennálló hiteltartozás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8E09C4-6F9E-4C21-AFA3-0A7A0AE1F9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0" r="6000"/>
          <a:stretch/>
        </p:blipFill>
        <p:spPr>
          <a:xfrm>
            <a:off x="5257800" y="1809750"/>
            <a:ext cx="6324600" cy="4448175"/>
          </a:xfrm>
          <a:prstGeom prst="rect">
            <a:avLst/>
          </a:prstGeom>
        </p:spPr>
      </p:pic>
      <p:sp>
        <p:nvSpPr>
          <p:cNvPr id="10" name="36 mező · 40 eseménykártya">
            <a:extLst>
              <a:ext uri="{FF2B5EF4-FFF2-40B4-BE49-F238E27FC236}">
                <a16:creationId xmlns:a16="http://schemas.microsoft.com/office/drawing/2014/main" id="{4C1F6CE0-513F-429E-A1B9-20103C558331}"/>
              </a:ext>
            </a:extLst>
          </p:cNvPr>
          <p:cNvSpPr>
            <a:spLocks noGrp="1"/>
          </p:cNvSpPr>
          <p:nvPr/>
        </p:nvSpPr>
        <p:spPr>
          <a:xfrm>
            <a:off x="5467350" y="632606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36 </a:t>
            </a:r>
            <a:r>
              <a:rPr sz="1875" b="0" dirty="0" err="1">
                <a:solidFill>
                  <a:srgbClr val="94A3B8"/>
                </a:solidFill>
                <a:latin typeface="Arial"/>
                <a:ea typeface="Arial"/>
                <a:cs typeface="Arial"/>
              </a:rPr>
              <a:t>mező</a:t>
            </a:r>
            <a:r>
              <a:rPr sz="1875" b="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 · 40 </a:t>
            </a:r>
            <a:r>
              <a:rPr sz="1875" b="0" dirty="0" err="1">
                <a:solidFill>
                  <a:srgbClr val="94A3B8"/>
                </a:solidFill>
                <a:latin typeface="Arial"/>
                <a:ea typeface="Arial"/>
                <a:cs typeface="Arial"/>
              </a:rPr>
              <a:t>eseménykártya</a:t>
            </a:r>
            <a:endParaRPr sz="1875" b="0" dirty="0">
              <a:solidFill>
                <a:srgbClr val="94A3B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994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i min dolgozott?">
            <a:extLst>
              <a:ext uri="{FF2B5EF4-FFF2-40B4-BE49-F238E27FC236}">
                <a16:creationId xmlns:a16="http://schemas.microsoft.com/office/drawing/2014/main" id="{8923C9C7-5829-4041-88E3-BE634313406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Ki min dolgozott?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C04B97-6CB3-4D6D-9D93-077E99D8320E}"/>
              </a:ext>
            </a:extLst>
          </p:cNvPr>
          <p:cNvGraphicFramePr/>
          <p:nvPr/>
        </p:nvGraphicFramePr>
        <p:xfrm>
          <a:off x="609600" y="1952625"/>
          <a:ext cx="10972800" cy="3863340"/>
        </p:xfrm>
        <a:graphic>
          <a:graphicData uri="http://schemas.openxmlformats.org/drawingml/2006/table">
            <a:tbl>
              <a:tblPr/>
              <a:tblGrid>
                <a:gridCol w="39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Csapattag</a:t>
                      </a:r>
                    </a:p>
                  </a:txBody>
                  <a:tcPr marL="171450" marR="171450" marT="190500" marB="15240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2D3EE"/>
                          </a:solidFill>
                          <a:latin typeface="Arial"/>
                          <a:ea typeface="Arial"/>
                          <a:cs typeface="Arial"/>
                        </a:rPr>
                        <a:t>Fő feladatok</a:t>
                      </a:r>
                    </a:p>
                  </a:txBody>
                  <a:tcPr marL="171450" marR="171450" marT="190500" marB="1524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Wild Péter</a:t>
                      </a:r>
                    </a:p>
                  </a:txBody>
                  <a:tcPr marL="171450" marR="171450" marT="190500" marB="15240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Projektalap, játéktábla, multiplayer,</a:t>
                      </a:r>
                    </a:p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integráció és üzemeltetés</a:t>
                      </a:r>
                    </a:p>
                  </a:txBody>
                  <a:tcPr marL="171450" marR="171450" marT="190500" marB="1524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Morvai Márkó</a:t>
                      </a:r>
                    </a:p>
                  </a:txBody>
                  <a:tcPr marL="171450" marR="171450" marT="190500" marB="15240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Játékadatok, szabálymotor,</a:t>
                      </a:r>
                    </a:p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alap panelek és táblafelület</a:t>
                      </a:r>
                    </a:p>
                  </a:txBody>
                  <a:tcPr marL="171450" marR="171450" marT="190500" marB="1524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Moldicz Dzsenifer Fanni</a:t>
                      </a:r>
                    </a:p>
                  </a:txBody>
                  <a:tcPr marL="171450" marR="171450" marT="190500" marB="152400" anchor="ctr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Tesztpanel, hangok, UI-javítások,</a:t>
                      </a:r>
                    </a:p>
                    <a:p>
                      <a:r>
                        <a:rPr sz="2100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</a:rPr>
                        <a:t>klinika, bank, lobby és botok</a:t>
                      </a:r>
                    </a:p>
                  </a:txBody>
                  <a:tcPr marL="171450" marR="171450" marT="190500" marB="152400" anchor="ctr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GitHub: Petya122 · mrkmrv · mdzseni">
            <a:extLst>
              <a:ext uri="{FF2B5EF4-FFF2-40B4-BE49-F238E27FC236}">
                <a16:creationId xmlns:a16="http://schemas.microsoft.com/office/drawing/2014/main" id="{EDD582E6-581C-441E-BF3E-BABC02E4BD53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97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GitHub: Petya122 · mrkmrv · mdzseni</a:t>
            </a:r>
          </a:p>
        </p:txBody>
      </p:sp>
    </p:spTree>
    <p:extLst>
      <p:ext uri="{BB962C8B-B14F-4D97-AF65-F5344CB8AC3E}">
        <p14:creationId xmlns:p14="http://schemas.microsoft.com/office/powerpoint/2010/main" val="98385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któber 26. · Az alapjáték összeállt">
            <a:extLst>
              <a:ext uri="{FF2B5EF4-FFF2-40B4-BE49-F238E27FC236}">
                <a16:creationId xmlns:a16="http://schemas.microsoft.com/office/drawing/2014/main" id="{20D35101-EAB8-49B2-A156-F64DF1A4AC6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Október 26. · Az alapjáték összeállt</a:t>
            </a:r>
          </a:p>
        </p:txBody>
      </p:sp>
      <p:sp>
        <p:nvSpPr>
          <p:cNvPr id="2" name="Projektindítás → játszható és online változat">
            <a:extLst>
              <a:ext uri="{FF2B5EF4-FFF2-40B4-BE49-F238E27FC236}">
                <a16:creationId xmlns:a16="http://schemas.microsoft.com/office/drawing/2014/main" id="{9F751C05-DE59-4D3C-B97A-1B4CB99A295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Projektindítás</a:t>
            </a:r>
            <a:r>
              <a:rPr sz="1950" b="0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 → </a:t>
            </a:r>
            <a:r>
              <a:rPr sz="1950" b="0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játszható</a:t>
            </a:r>
            <a:r>
              <a:rPr sz="1950" b="0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és</a:t>
            </a:r>
            <a:r>
              <a:rPr sz="1950" b="0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 online </a:t>
            </a:r>
            <a:r>
              <a:rPr sz="1950" b="0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változat</a:t>
            </a:r>
            <a:endParaRPr sz="1950" b="0" dirty="0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Wild Péter">
            <a:extLst>
              <a:ext uri="{FF2B5EF4-FFF2-40B4-BE49-F238E27FC236}">
                <a16:creationId xmlns:a16="http://schemas.microsoft.com/office/drawing/2014/main" id="{83A962BD-41F4-45C6-8399-9296892148C9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335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Wild Péter</a:t>
            </a:r>
          </a:p>
        </p:txBody>
      </p:sp>
      <p:sp>
        <p:nvSpPr>
          <p:cNvPr id="4" name="React + TypeScript alap Játéktábla és dobókocka Online játék, Docker">
            <a:extLst>
              <a:ext uri="{FF2B5EF4-FFF2-40B4-BE49-F238E27FC236}">
                <a16:creationId xmlns:a16="http://schemas.microsoft.com/office/drawing/2014/main" id="{C4175FA5-6CAB-46E3-B57A-BAD1EAD78311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33528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React + TypeScript alap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Játéktábla és dobókocka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Online játék, Docker</a:t>
            </a:r>
          </a:p>
        </p:txBody>
      </p:sp>
      <p:sp>
        <p:nvSpPr>
          <p:cNvPr id="5" name="#1 · #3 · #7">
            <a:extLst>
              <a:ext uri="{FF2B5EF4-FFF2-40B4-BE49-F238E27FC236}">
                <a16:creationId xmlns:a16="http://schemas.microsoft.com/office/drawing/2014/main" id="{EFEC18F6-07AE-4E87-8303-0BD58F34ECDD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#1 #3 #7</a:t>
            </a:r>
          </a:p>
        </p:txBody>
      </p:sp>
      <p:sp>
        <p:nvSpPr>
          <p:cNvPr id="6" name="Morvai Márkó">
            <a:extLst>
              <a:ext uri="{FF2B5EF4-FFF2-40B4-BE49-F238E27FC236}">
                <a16:creationId xmlns:a16="http://schemas.microsoft.com/office/drawing/2014/main" id="{6FE214BE-2525-4F60-8C42-4E69EEC55DF0}"/>
              </a:ext>
            </a:extLst>
          </p:cNvPr>
          <p:cNvSpPr>
            <a:spLocks noGrp="1"/>
          </p:cNvSpPr>
          <p:nvPr/>
        </p:nvSpPr>
        <p:spPr>
          <a:xfrm>
            <a:off x="4419600" y="2190750"/>
            <a:ext cx="335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Morvai Márkó</a:t>
            </a:r>
          </a:p>
        </p:txBody>
      </p:sp>
      <p:sp>
        <p:nvSpPr>
          <p:cNvPr id="7" name="40 kártya és játékadatok Szabálymotor Klinika és alap panelek">
            <a:extLst>
              <a:ext uri="{FF2B5EF4-FFF2-40B4-BE49-F238E27FC236}">
                <a16:creationId xmlns:a16="http://schemas.microsoft.com/office/drawing/2014/main" id="{CB02D310-6E03-49FA-A635-A42A7BF0DC7D}"/>
              </a:ext>
            </a:extLst>
          </p:cNvPr>
          <p:cNvSpPr>
            <a:spLocks noGrp="1"/>
          </p:cNvSpPr>
          <p:nvPr/>
        </p:nvSpPr>
        <p:spPr>
          <a:xfrm>
            <a:off x="4419600" y="3238500"/>
            <a:ext cx="33528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40 kártya és játékadatok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Szabálymotor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Klinika és alap panelek</a:t>
            </a:r>
          </a:p>
        </p:txBody>
      </p:sp>
      <p:sp>
        <p:nvSpPr>
          <p:cNvPr id="8" name="#2 · #4 · #5">
            <a:extLst>
              <a:ext uri="{FF2B5EF4-FFF2-40B4-BE49-F238E27FC236}">
                <a16:creationId xmlns:a16="http://schemas.microsoft.com/office/drawing/2014/main" id="{1AD0D7D3-DACC-4DF8-9DF0-06B6201BD2FA}"/>
              </a:ext>
            </a:extLst>
          </p:cNvPr>
          <p:cNvSpPr>
            <a:spLocks noGrp="1"/>
          </p:cNvSpPr>
          <p:nvPr/>
        </p:nvSpPr>
        <p:spPr>
          <a:xfrm>
            <a:off x="4419600" y="5353050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#2 #4 #5</a:t>
            </a:r>
          </a:p>
        </p:txBody>
      </p:sp>
      <p:sp>
        <p:nvSpPr>
          <p:cNvPr id="9" name="Moldicz Dzsenifer">
            <a:extLst>
              <a:ext uri="{FF2B5EF4-FFF2-40B4-BE49-F238E27FC236}">
                <a16:creationId xmlns:a16="http://schemas.microsoft.com/office/drawing/2014/main" id="{D4313F5A-A6AC-45B0-BA4E-9539EB3F74D3}"/>
              </a:ext>
            </a:extLst>
          </p:cNvPr>
          <p:cNvSpPr>
            <a:spLocks noGrp="1"/>
          </p:cNvSpPr>
          <p:nvPr/>
        </p:nvSpPr>
        <p:spPr>
          <a:xfrm>
            <a:off x="8229600" y="2190750"/>
            <a:ext cx="3352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Moldicz Dzsenifer</a:t>
            </a:r>
          </a:p>
        </p:txBody>
      </p:sp>
      <p:sp>
        <p:nvSpPr>
          <p:cNvPr id="10" name="Zsűri tesztpanel Pénz, kártya, teleport Négy alaphangeffekt">
            <a:extLst>
              <a:ext uri="{FF2B5EF4-FFF2-40B4-BE49-F238E27FC236}">
                <a16:creationId xmlns:a16="http://schemas.microsoft.com/office/drawing/2014/main" id="{2652484A-E4E2-4B8C-A87F-A26A1526C924}"/>
              </a:ext>
            </a:extLst>
          </p:cNvPr>
          <p:cNvSpPr>
            <a:spLocks noGrp="1"/>
          </p:cNvSpPr>
          <p:nvPr/>
        </p:nvSpPr>
        <p:spPr>
          <a:xfrm>
            <a:off x="8229600" y="3238500"/>
            <a:ext cx="33528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Zsűri tesztpanel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Pénz, kártya, teleport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Négy alaphangeffekt</a:t>
            </a:r>
          </a:p>
        </p:txBody>
      </p:sp>
      <p:sp>
        <p:nvSpPr>
          <p:cNvPr id="11" name="#6">
            <a:extLst>
              <a:ext uri="{FF2B5EF4-FFF2-40B4-BE49-F238E27FC236}">
                <a16:creationId xmlns:a16="http://schemas.microsoft.com/office/drawing/2014/main" id="{822B2F1E-29BE-47CF-8630-D45C33E40E83}"/>
              </a:ext>
            </a:extLst>
          </p:cNvPr>
          <p:cNvSpPr>
            <a:spLocks noGrp="1"/>
          </p:cNvSpPr>
          <p:nvPr/>
        </p:nvSpPr>
        <p:spPr>
          <a:xfrm>
            <a:off x="8229600" y="5353050"/>
            <a:ext cx="335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#6</a:t>
            </a:r>
          </a:p>
        </p:txBody>
      </p:sp>
      <p:sp>
        <p:nvSpPr>
          <p:cNvPr id="13" name="Projektindítás → játszható és online változat">
            <a:extLst>
              <a:ext uri="{FF2B5EF4-FFF2-40B4-BE49-F238E27FC236}">
                <a16:creationId xmlns:a16="http://schemas.microsoft.com/office/drawing/2014/main" id="{BFA583C4-7BC5-0BEB-AC73-77DDF3DB6722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lang="hu-HU" dirty="0" err="1"/>
              <a:t>Issues</a:t>
            </a:r>
            <a:r>
              <a:rPr lang="hu-HU" dirty="0"/>
              <a:t>: </a:t>
            </a:r>
            <a:endParaRPr sz="1950" b="0" dirty="0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809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któber 27. · Letisztultabb felület">
            <a:extLst>
              <a:ext uri="{FF2B5EF4-FFF2-40B4-BE49-F238E27FC236}">
                <a16:creationId xmlns:a16="http://schemas.microsoft.com/office/drawing/2014/main" id="{9691EC8F-081E-4DA1-A3E8-243F31E5498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Október 27. · Letisztultabb felület</a:t>
            </a:r>
          </a:p>
        </p:txBody>
      </p:sp>
      <p:sp>
        <p:nvSpPr>
          <p:cNvPr id="2" name="Átláthatóbb tábla · javított elrendezés · saját arculat">
            <a:extLst>
              <a:ext uri="{FF2B5EF4-FFF2-40B4-BE49-F238E27FC236}">
                <a16:creationId xmlns:a16="http://schemas.microsoft.com/office/drawing/2014/main" id="{FCA87A8B-0732-4513-A676-15EC465C5E3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Átláthatóbb tábla · javított elrendezés · saját arculat</a:t>
            </a:r>
          </a:p>
        </p:txBody>
      </p:sp>
      <p:sp>
        <p:nvSpPr>
          <p:cNvPr id="3" name="Márkó: minimalista tábla (#9) Péter: CodeBlue favicon (#11)">
            <a:extLst>
              <a:ext uri="{FF2B5EF4-FFF2-40B4-BE49-F238E27FC236}">
                <a16:creationId xmlns:a16="http://schemas.microsoft.com/office/drawing/2014/main" id="{2D00DB95-FB67-409C-9A46-F13E056D191C}"/>
              </a:ext>
            </a:extLst>
          </p:cNvPr>
          <p:cNvSpPr>
            <a:spLocks noGrp="1"/>
          </p:cNvSpPr>
          <p:nvPr/>
        </p:nvSpPr>
        <p:spPr>
          <a:xfrm>
            <a:off x="7943850" y="1582341"/>
            <a:ext cx="10972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2D3EE"/>
                </a:solidFill>
              </a:rPr>
              <a:t>Márkó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: </a:t>
            </a:r>
            <a:endParaRPr lang="hu-HU"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minimalista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tábla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#9</a:t>
            </a:r>
            <a:endParaRPr lang="hu-HU"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endParaRPr lang="hu-HU"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2D3EE"/>
                </a:solidFill>
              </a:rPr>
              <a:t>P</a:t>
            </a:r>
            <a:r>
              <a:rPr lang="hu-HU" sz="2550" b="1" dirty="0" err="1">
                <a:solidFill>
                  <a:srgbClr val="22D3EE"/>
                </a:solidFill>
              </a:rPr>
              <a:t>eti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: </a:t>
            </a:r>
            <a:endParaRPr lang="hu-HU"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CodeBlue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favicon #11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71A108-27C0-4F67-86EC-32638BB7A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944291"/>
            <a:ext cx="6858000" cy="1618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063A73-300A-4780-8B0B-149572F84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96047" y="4219575"/>
            <a:ext cx="5085106" cy="1581150"/>
          </a:xfrm>
          <a:prstGeom prst="rect">
            <a:avLst/>
          </a:prstGeom>
        </p:spPr>
      </p:pic>
      <p:sp>
        <p:nvSpPr>
          <p:cNvPr id="6" name="Dzsenifer">
            <a:extLst>
              <a:ext uri="{FF2B5EF4-FFF2-40B4-BE49-F238E27FC236}">
                <a16:creationId xmlns:a16="http://schemas.microsoft.com/office/drawing/2014/main" id="{95D1D7A2-DB31-46D8-881C-B063E639E21F}"/>
              </a:ext>
            </a:extLst>
          </p:cNvPr>
          <p:cNvSpPr>
            <a:spLocks noGrp="1"/>
          </p:cNvSpPr>
          <p:nvPr/>
        </p:nvSpPr>
        <p:spPr>
          <a:xfrm>
            <a:off x="7943850" y="3562350"/>
            <a:ext cx="3524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Dzseni</a:t>
            </a:r>
            <a:r>
              <a:rPr lang="hu-HU" sz="2550" b="1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:</a:t>
            </a:r>
            <a:endParaRPr sz="2550" b="1" dirty="0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Játékoskártyák kilógásának javítása #8">
            <a:extLst>
              <a:ext uri="{FF2B5EF4-FFF2-40B4-BE49-F238E27FC236}">
                <a16:creationId xmlns:a16="http://schemas.microsoft.com/office/drawing/2014/main" id="{42622781-27CC-4013-BB35-8939ED2E1891}"/>
              </a:ext>
            </a:extLst>
          </p:cNvPr>
          <p:cNvSpPr>
            <a:spLocks noGrp="1"/>
          </p:cNvSpPr>
          <p:nvPr/>
        </p:nvSpPr>
        <p:spPr>
          <a:xfrm>
            <a:off x="7943850" y="3970313"/>
            <a:ext cx="3524250" cy="10398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Játékoskártyák</a:t>
            </a:r>
            <a:endParaRPr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kilógásának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javítása</a:t>
            </a:r>
            <a:endParaRPr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#8</a:t>
            </a:r>
          </a:p>
        </p:txBody>
      </p:sp>
      <p:sp>
        <p:nvSpPr>
          <p:cNvPr id="8" name="Menücímek térköze és sormagassága #10">
            <a:extLst>
              <a:ext uri="{FF2B5EF4-FFF2-40B4-BE49-F238E27FC236}">
                <a16:creationId xmlns:a16="http://schemas.microsoft.com/office/drawing/2014/main" id="{2DEA570E-42C7-4231-8431-7708DE96FFE0}"/>
              </a:ext>
            </a:extLst>
          </p:cNvPr>
          <p:cNvSpPr>
            <a:spLocks noGrp="1"/>
          </p:cNvSpPr>
          <p:nvPr/>
        </p:nvSpPr>
        <p:spPr>
          <a:xfrm>
            <a:off x="7943850" y="5010150"/>
            <a:ext cx="352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Menücímek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térköze</a:t>
            </a:r>
            <a:endParaRPr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és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sormagassága</a:t>
            </a:r>
            <a:endParaRPr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#10</a:t>
            </a:r>
          </a:p>
        </p:txBody>
      </p:sp>
    </p:spTree>
    <p:extLst>
      <p:ext uri="{BB962C8B-B14F-4D97-AF65-F5344CB8AC3E}">
        <p14:creationId xmlns:p14="http://schemas.microsoft.com/office/powerpoint/2010/main" val="50257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któber 28. · Új klinika és bank">
            <a:extLst>
              <a:ext uri="{FF2B5EF4-FFF2-40B4-BE49-F238E27FC236}">
                <a16:creationId xmlns:a16="http://schemas.microsoft.com/office/drawing/2014/main" id="{698B2B1C-AF01-4715-AE51-42712C55CF0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 dirty="0" err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Október</a:t>
            </a:r>
            <a:r>
              <a:rPr sz="34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 28. · </a:t>
            </a:r>
            <a:r>
              <a:rPr sz="3450" b="1" dirty="0" err="1">
                <a:solidFill>
                  <a:srgbClr val="F8FAFC"/>
                </a:solidFill>
                <a:latin typeface="Arial"/>
                <a:ea typeface="Arial"/>
                <a:cs typeface="Arial"/>
              </a:rPr>
              <a:t>Új</a:t>
            </a:r>
            <a:r>
              <a:rPr sz="34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klinika</a:t>
            </a:r>
            <a:r>
              <a:rPr sz="34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 </a:t>
            </a:r>
            <a:r>
              <a:rPr sz="3450" b="1" dirty="0" err="1">
                <a:solidFill>
                  <a:srgbClr val="F8FAFC"/>
                </a:solidFill>
                <a:latin typeface="Arial"/>
                <a:ea typeface="Arial"/>
                <a:cs typeface="Arial"/>
              </a:rPr>
              <a:t>és</a:t>
            </a:r>
            <a:r>
              <a:rPr sz="34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 bank</a:t>
            </a:r>
            <a:r>
              <a:rPr lang="hu-HU" sz="34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 UI</a:t>
            </a:r>
            <a:endParaRPr sz="3450" b="1" dirty="0">
              <a:solidFill>
                <a:srgbClr val="F8FAF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Moldicz Dzsenifer Fanni · #14 és #15">
            <a:extLst>
              <a:ext uri="{FF2B5EF4-FFF2-40B4-BE49-F238E27FC236}">
                <a16:creationId xmlns:a16="http://schemas.microsoft.com/office/drawing/2014/main" id="{8C106783-548E-4671-8CA5-7DB1A6F9DE2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lang="hu-HU" dirty="0" err="1"/>
              <a:t>Dzseni</a:t>
            </a:r>
            <a:r>
              <a:rPr sz="1950" b="0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· #14 </a:t>
            </a:r>
            <a:r>
              <a:rPr sz="1950" b="0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és</a:t>
            </a:r>
            <a:r>
              <a:rPr sz="1950" b="0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 #15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3023CC-00C1-4643-9B9F-779CEDDD3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5112" y="1809750"/>
            <a:ext cx="5581227" cy="3924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D7C259-9844-4434-9683-8B21C81AE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96200" y="1947946"/>
            <a:ext cx="3524250" cy="3647908"/>
          </a:xfrm>
          <a:prstGeom prst="rect">
            <a:avLst/>
          </a:prstGeom>
        </p:spPr>
      </p:pic>
      <p:sp>
        <p:nvSpPr>
          <p:cNvPr id="5" name="Klinika">
            <a:extLst>
              <a:ext uri="{FF2B5EF4-FFF2-40B4-BE49-F238E27FC236}">
                <a16:creationId xmlns:a16="http://schemas.microsoft.com/office/drawing/2014/main" id="{D113C729-CDA0-4651-AE3C-727DA6D62245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Klinika</a:t>
            </a:r>
          </a:p>
        </p:txBody>
      </p:sp>
      <p:sp>
        <p:nvSpPr>
          <p:cNvPr id="6" name="8 illusztráció · fejlődő tervrajz">
            <a:extLst>
              <a:ext uri="{FF2B5EF4-FFF2-40B4-BE49-F238E27FC236}">
                <a16:creationId xmlns:a16="http://schemas.microsoft.com/office/drawing/2014/main" id="{5A37B7BB-C651-4AD4-82CF-DA47C5FB147A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8 </a:t>
            </a:r>
            <a:r>
              <a:rPr sz="1875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illusztráció</a:t>
            </a:r>
            <a:r>
              <a:rPr sz="1875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7" name="Bank">
            <a:extLst>
              <a:ext uri="{FF2B5EF4-FFF2-40B4-BE49-F238E27FC236}">
                <a16:creationId xmlns:a16="http://schemas.microsoft.com/office/drawing/2014/main" id="{9F796B18-2F04-4363-A440-02C1A3325BA9}"/>
              </a:ext>
            </a:extLst>
          </p:cNvPr>
          <p:cNvSpPr>
            <a:spLocks noGrp="1"/>
          </p:cNvSpPr>
          <p:nvPr/>
        </p:nvSpPr>
        <p:spPr>
          <a:xfrm>
            <a:off x="7696200" y="5915025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8" name="Betétek · befektetések">
            <a:extLst>
              <a:ext uri="{FF2B5EF4-FFF2-40B4-BE49-F238E27FC236}">
                <a16:creationId xmlns:a16="http://schemas.microsoft.com/office/drawing/2014/main" id="{CBD445CA-DB09-42AE-A6BC-9B181149A37C}"/>
              </a:ext>
            </a:extLst>
          </p:cNvPr>
          <p:cNvSpPr>
            <a:spLocks noGrp="1"/>
          </p:cNvSpPr>
          <p:nvPr/>
        </p:nvSpPr>
        <p:spPr>
          <a:xfrm>
            <a:off x="7696200" y="6315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Betétek · befektetések</a:t>
            </a:r>
          </a:p>
        </p:txBody>
      </p:sp>
    </p:spTree>
    <p:extLst>
      <p:ext uri="{BB962C8B-B14F-4D97-AF65-F5344CB8AC3E}">
        <p14:creationId xmlns:p14="http://schemas.microsoft.com/office/powerpoint/2010/main" val="1133389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któber 28. · Lobby és orvosbotok">
            <a:extLst>
              <a:ext uri="{FF2B5EF4-FFF2-40B4-BE49-F238E27FC236}">
                <a16:creationId xmlns:a16="http://schemas.microsoft.com/office/drawing/2014/main" id="{B46E1AC4-21E9-4FE7-921B-01F48B6DA86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Október 28. · Lobby és orvosbotok</a:t>
            </a:r>
          </a:p>
        </p:txBody>
      </p:sp>
      <p:sp>
        <p:nvSpPr>
          <p:cNvPr id="2" name="Helyi és online játék bővítése">
            <a:extLst>
              <a:ext uri="{FF2B5EF4-FFF2-40B4-BE49-F238E27FC236}">
                <a16:creationId xmlns:a16="http://schemas.microsoft.com/office/drawing/2014/main" id="{F085C349-83A8-47E2-9367-E241D86762A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Helyi és online játék bővítése</a:t>
            </a:r>
          </a:p>
        </p:txBody>
      </p:sp>
      <p:sp>
        <p:nvSpPr>
          <p:cNvPr id="3" name="Dzsenifer · #19, #20">
            <a:extLst>
              <a:ext uri="{FF2B5EF4-FFF2-40B4-BE49-F238E27FC236}">
                <a16:creationId xmlns:a16="http://schemas.microsoft.com/office/drawing/2014/main" id="{F200BF1A-6458-405B-B7F8-32BE29849E7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81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Dzseni</a:t>
            </a:r>
            <a:r>
              <a:rPr sz="2550" b="1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 · #19, #20</a:t>
            </a:r>
          </a:p>
        </p:txBody>
      </p:sp>
      <p:sp>
        <p:nvSpPr>
          <p:cNvPr id="4" name="Nyilvános és privát szobák PIN-védelem Önálló, szabályalapú orvosbotok">
            <a:extLst>
              <a:ext uri="{FF2B5EF4-FFF2-40B4-BE49-F238E27FC236}">
                <a16:creationId xmlns:a16="http://schemas.microsoft.com/office/drawing/2014/main" id="{EFBE3A15-65DD-49C3-BB1D-18CE4B8DA48C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56197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lang="hu-HU" dirty="0"/>
              <a:t>S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zobá</a:t>
            </a:r>
            <a:r>
              <a:rPr lang="hu-HU" dirty="0" err="1"/>
              <a:t>k</a:t>
            </a:r>
            <a:r>
              <a:rPr lang="hu-HU" dirty="0"/>
              <a:t> 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PIN-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védelem</a:t>
            </a:r>
            <a:endParaRPr sz="225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Önálló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,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szabályalapú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orvosbotok</a:t>
            </a:r>
            <a:endParaRPr sz="225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éter · #16 és további finomítások">
            <a:extLst>
              <a:ext uri="{FF2B5EF4-FFF2-40B4-BE49-F238E27FC236}">
                <a16:creationId xmlns:a16="http://schemas.microsoft.com/office/drawing/2014/main" id="{87D5EE23-C1E8-487F-A72A-864B68F8C719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5619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34D399"/>
                </a:solidFill>
                <a:latin typeface="Arial"/>
                <a:ea typeface="Arial"/>
                <a:cs typeface="Arial"/>
              </a:rPr>
              <a:t>P</a:t>
            </a:r>
            <a:r>
              <a:rPr lang="hu-HU" sz="2250" b="1" dirty="0" err="1">
                <a:solidFill>
                  <a:srgbClr val="34D399"/>
                </a:solidFill>
                <a:latin typeface="Arial"/>
                <a:ea typeface="Arial"/>
                <a:cs typeface="Arial"/>
              </a:rPr>
              <a:t>eti</a:t>
            </a:r>
            <a:r>
              <a:rPr sz="2250" b="1" dirty="0">
                <a:solidFill>
                  <a:srgbClr val="34D399"/>
                </a:solidFill>
                <a:latin typeface="Arial"/>
                <a:ea typeface="Arial"/>
                <a:cs typeface="Arial"/>
              </a:rPr>
              <a:t> · #16 </a:t>
            </a:r>
            <a:r>
              <a:rPr sz="2250" b="1" dirty="0" err="1">
                <a:solidFill>
                  <a:srgbClr val="34D399"/>
                </a:solidFill>
                <a:latin typeface="Arial"/>
                <a:ea typeface="Arial"/>
                <a:cs typeface="Arial"/>
              </a:rPr>
              <a:t>és</a:t>
            </a:r>
            <a:r>
              <a:rPr sz="2250" b="1" dirty="0">
                <a:solidFill>
                  <a:srgbClr val="34D39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1" dirty="0" err="1">
                <a:solidFill>
                  <a:srgbClr val="34D399"/>
                </a:solidFill>
                <a:latin typeface="Arial"/>
                <a:ea typeface="Arial"/>
                <a:cs typeface="Arial"/>
              </a:rPr>
              <a:t>további</a:t>
            </a:r>
            <a:r>
              <a:rPr sz="2250" b="1" dirty="0">
                <a:solidFill>
                  <a:srgbClr val="34D399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1" dirty="0" err="1">
                <a:solidFill>
                  <a:srgbClr val="34D399"/>
                </a:solidFill>
                <a:latin typeface="Arial"/>
                <a:ea typeface="Arial"/>
                <a:cs typeface="Arial"/>
              </a:rPr>
              <a:t>finomítások</a:t>
            </a:r>
            <a:endParaRPr sz="2250" b="1" dirty="0">
              <a:solidFill>
                <a:srgbClr val="34D3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Visszacsatlakozás és újrajátszás Botdemó, mobil- és hangbővítések">
            <a:extLst>
              <a:ext uri="{FF2B5EF4-FFF2-40B4-BE49-F238E27FC236}">
                <a16:creationId xmlns:a16="http://schemas.microsoft.com/office/drawing/2014/main" id="{4E7CD7C5-5C87-4751-90DB-7AD44B59DB59}"/>
              </a:ext>
            </a:extLst>
          </p:cNvPr>
          <p:cNvSpPr>
            <a:spLocks noGrp="1"/>
          </p:cNvSpPr>
          <p:nvPr/>
        </p:nvSpPr>
        <p:spPr>
          <a:xfrm>
            <a:off x="609600" y="4711798"/>
            <a:ext cx="5619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Visszacsatlakozás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és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újrajátszás</a:t>
            </a:r>
            <a:endParaRPr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  <a:p>
            <a:pPr algn="l">
              <a:defRPr sz="21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Botdemó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,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mobil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és</a:t>
            </a:r>
            <a:r>
              <a:rPr sz="210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hangbővítések</a:t>
            </a:r>
            <a:endParaRPr sz="21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03D3EE-35E7-4E8C-9067-92F217E62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14771" y="1809750"/>
            <a:ext cx="2153708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95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któber 29. · Nézői mód és védett demó">
            <a:extLst>
              <a:ext uri="{FF2B5EF4-FFF2-40B4-BE49-F238E27FC236}">
                <a16:creationId xmlns:a16="http://schemas.microsoft.com/office/drawing/2014/main" id="{0529C9F0-3C4C-4AFC-B141-AD73CC5D692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Október 29. · Nézői mód és védett demó</a:t>
            </a:r>
          </a:p>
        </p:txBody>
      </p:sp>
      <p:sp>
        <p:nvSpPr>
          <p:cNvPr id="2" name="Wild Péter · a legfrissebb develop-verzió">
            <a:extLst>
              <a:ext uri="{FF2B5EF4-FFF2-40B4-BE49-F238E27FC236}">
                <a16:creationId xmlns:a16="http://schemas.microsoft.com/office/drawing/2014/main" id="{4A297C50-8DA2-4BEC-8653-71A40F9B00E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lang="hu-HU" dirty="0"/>
              <a:t>Peti</a:t>
            </a:r>
            <a:r>
              <a:rPr sz="1950" b="0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 · a </a:t>
            </a:r>
            <a:r>
              <a:rPr sz="1950" b="0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legfrissebb</a:t>
            </a:r>
            <a:r>
              <a:rPr sz="1950" b="0" dirty="0">
                <a:solidFill>
                  <a:srgbClr val="22D3EE"/>
                </a:solidFill>
                <a:latin typeface="Arial"/>
                <a:ea typeface="Arial"/>
                <a:cs typeface="Arial"/>
              </a:rPr>
              <a:t> develop-</a:t>
            </a:r>
            <a:r>
              <a:rPr sz="1950" b="0" dirty="0" err="1">
                <a:solidFill>
                  <a:srgbClr val="22D3EE"/>
                </a:solidFill>
                <a:latin typeface="Arial"/>
                <a:ea typeface="Arial"/>
                <a:cs typeface="Arial"/>
              </a:rPr>
              <a:t>verzió</a:t>
            </a:r>
            <a:endParaRPr sz="1950" b="0" dirty="0">
              <a:solidFill>
                <a:srgbClr val="22D3E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Nézőként is csatlakozhatsz">
            <a:extLst>
              <a:ext uri="{FF2B5EF4-FFF2-40B4-BE49-F238E27FC236}">
                <a16:creationId xmlns:a16="http://schemas.microsoft.com/office/drawing/2014/main" id="{6CF80DC3-9EFF-4352-94AD-46708B1BF78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Nézőként is csatlakozhatsz</a:t>
            </a:r>
          </a:p>
        </p:txBody>
      </p:sp>
      <p:sp>
        <p:nvSpPr>
          <p:cNvPr id="4" name="Futó játék követése · valós idejű nézőszám · belépés a lobbyból">
            <a:extLst>
              <a:ext uri="{FF2B5EF4-FFF2-40B4-BE49-F238E27FC236}">
                <a16:creationId xmlns:a16="http://schemas.microsoft.com/office/drawing/2014/main" id="{C51C8653-2866-4EC0-8511-68DF06CB4A58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066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Futó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játék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követése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·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valós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idejű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nézőszám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·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belépés</a:t>
            </a:r>
            <a:r>
              <a:rPr sz="2250" b="0" dirty="0">
                <a:solidFill>
                  <a:srgbClr val="CBD5E1"/>
                </a:solidFill>
                <a:latin typeface="Arial"/>
                <a:ea typeface="Arial"/>
                <a:cs typeface="Arial"/>
              </a:rPr>
              <a:t> a </a:t>
            </a:r>
            <a:r>
              <a:rPr sz="2250" b="0" dirty="0" err="1">
                <a:solidFill>
                  <a:srgbClr val="CBD5E1"/>
                </a:solidFill>
                <a:latin typeface="Arial"/>
                <a:ea typeface="Arial"/>
                <a:cs typeface="Arial"/>
              </a:rPr>
              <a:t>lobbyból</a:t>
            </a:r>
            <a:endParaRPr sz="225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Fejlesztői Mód">
            <a:extLst>
              <a:ext uri="{FF2B5EF4-FFF2-40B4-BE49-F238E27FC236}">
                <a16:creationId xmlns:a16="http://schemas.microsoft.com/office/drawing/2014/main" id="{5D453958-C92A-4D9D-B55C-1E53E3F7E226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3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Fejlesztői Mód</a:t>
            </a:r>
          </a:p>
        </p:txBody>
      </p:sp>
      <p:sp>
        <p:nvSpPr>
          <p:cNvPr id="6" name="Jelszóval védett panel · alapból rejtett fejlécgomb">
            <a:extLst>
              <a:ext uri="{FF2B5EF4-FFF2-40B4-BE49-F238E27FC236}">
                <a16:creationId xmlns:a16="http://schemas.microsoft.com/office/drawing/2014/main" id="{278505C2-9DBE-4B16-87DD-FEACA38BA6C3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Jelszóval védett panel · alapból rejtett fejlécgomb</a:t>
            </a:r>
          </a:p>
        </p:txBody>
      </p:sp>
    </p:spTree>
    <p:extLst>
      <p:ext uri="{BB962C8B-B14F-4D97-AF65-F5344CB8AC3E}">
        <p14:creationId xmlns:p14="http://schemas.microsoft.com/office/powerpoint/2010/main" val="117160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ilyen technológiákkal készült?">
            <a:extLst>
              <a:ext uri="{FF2B5EF4-FFF2-40B4-BE49-F238E27FC236}">
                <a16:creationId xmlns:a16="http://schemas.microsoft.com/office/drawing/2014/main" id="{1B05E0F8-112E-4C89-B9D6-2F480ABED55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Milyen technológiákkal készült?</a:t>
            </a:r>
          </a:p>
        </p:txBody>
      </p:sp>
      <p:sp>
        <p:nvSpPr>
          <p:cNvPr id="2" name="Felület">
            <a:extLst>
              <a:ext uri="{FF2B5EF4-FFF2-40B4-BE49-F238E27FC236}">
                <a16:creationId xmlns:a16="http://schemas.microsoft.com/office/drawing/2014/main" id="{DC9E2449-21FB-429A-8F14-8DD8D2319599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Felület</a:t>
            </a:r>
          </a:p>
        </p:txBody>
      </p:sp>
      <p:sp>
        <p:nvSpPr>
          <p:cNvPr id="3" name="React · TypeScript · Vite CSS · Lucide ikonok Web Audio API">
            <a:extLst>
              <a:ext uri="{FF2B5EF4-FFF2-40B4-BE49-F238E27FC236}">
                <a16:creationId xmlns:a16="http://schemas.microsoft.com/office/drawing/2014/main" id="{DA01FA7C-172D-4805-8F35-EF4B0898DEFC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3333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React · TypeScript · Vite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CSS · Lucide ikonok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Web Audio API</a:t>
            </a:r>
          </a:p>
        </p:txBody>
      </p:sp>
      <p:sp>
        <p:nvSpPr>
          <p:cNvPr id="4" name="Online játék">
            <a:extLst>
              <a:ext uri="{FF2B5EF4-FFF2-40B4-BE49-F238E27FC236}">
                <a16:creationId xmlns:a16="http://schemas.microsoft.com/office/drawing/2014/main" id="{0EB3F0B4-2269-40A9-ADB7-43E99CC1D658}"/>
              </a:ext>
            </a:extLst>
          </p:cNvPr>
          <p:cNvSpPr>
            <a:spLocks noGrp="1"/>
          </p:cNvSpPr>
          <p:nvPr/>
        </p:nvSpPr>
        <p:spPr>
          <a:xfrm>
            <a:off x="4381500" y="201930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Online játék</a:t>
            </a:r>
          </a:p>
        </p:txBody>
      </p:sp>
      <p:sp>
        <p:nvSpPr>
          <p:cNvPr id="5" name="Node.js · Express Socket.IO Szabályalapú botvezérlés">
            <a:extLst>
              <a:ext uri="{FF2B5EF4-FFF2-40B4-BE49-F238E27FC236}">
                <a16:creationId xmlns:a16="http://schemas.microsoft.com/office/drawing/2014/main" id="{02A57C58-8502-4E92-AE79-0AB4F42B2716}"/>
              </a:ext>
            </a:extLst>
          </p:cNvPr>
          <p:cNvSpPr>
            <a:spLocks noGrp="1"/>
          </p:cNvSpPr>
          <p:nvPr/>
        </p:nvSpPr>
        <p:spPr>
          <a:xfrm>
            <a:off x="4381500" y="2952750"/>
            <a:ext cx="3333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Node.js · Express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Socket.IO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Szabályalapú botvezérlés</a:t>
            </a:r>
          </a:p>
        </p:txBody>
      </p:sp>
      <p:sp>
        <p:nvSpPr>
          <p:cNvPr id="6" name="Futtatás">
            <a:extLst>
              <a:ext uri="{FF2B5EF4-FFF2-40B4-BE49-F238E27FC236}">
                <a16:creationId xmlns:a16="http://schemas.microsoft.com/office/drawing/2014/main" id="{6A0412BC-5D0C-4593-87D2-4C73A3292426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Futtatás</a:t>
            </a:r>
          </a:p>
        </p:txBody>
      </p:sp>
      <p:sp>
        <p:nvSpPr>
          <p:cNvPr id="7" name="Docker · Compose Oracle Cloud (OCI) Caddy · HTTPS">
            <a:extLst>
              <a:ext uri="{FF2B5EF4-FFF2-40B4-BE49-F238E27FC236}">
                <a16:creationId xmlns:a16="http://schemas.microsoft.com/office/drawing/2014/main" id="{D0D67A5C-CF85-46F0-AB03-2F9B33138117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3333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Docker · Compose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Oracle Cloud (OCI)</a:t>
            </a:r>
          </a:p>
          <a:p>
            <a:pPr algn="l">
              <a:defRPr sz="21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Caddy · HTTPS</a:t>
            </a:r>
          </a:p>
        </p:txBody>
      </p:sp>
      <p:sp>
        <p:nvSpPr>
          <p:cNvPr id="8" name="Munkafolyamat és ellenőrzés">
            <a:extLst>
              <a:ext uri="{FF2B5EF4-FFF2-40B4-BE49-F238E27FC236}">
                <a16:creationId xmlns:a16="http://schemas.microsoft.com/office/drawing/2014/main" id="{28808F0A-DCDF-4077-9F54-E8268939AF96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972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Munkafolyamat és ellenőrzés</a:t>
            </a:r>
          </a:p>
        </p:txBody>
      </p:sp>
      <p:sp>
        <p:nvSpPr>
          <p:cNvPr id="9" name="GitHub issue → branch → PR → develop Automatikus tesztek · ESLint · Ty">
            <a:extLst>
              <a:ext uri="{FF2B5EF4-FFF2-40B4-BE49-F238E27FC236}">
                <a16:creationId xmlns:a16="http://schemas.microsoft.com/office/drawing/2014/main" id="{B5262D0A-2536-4361-AC87-40B181FFBF4F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109728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GitHub issue → branch → PR → develop</a:t>
            </a:r>
          </a:p>
          <a:p>
            <a:pPr algn="l">
              <a:defRPr sz="20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Automatikus tesztek · ESLint · TypeScript-ellenőrzés · build</a:t>
            </a:r>
          </a:p>
        </p:txBody>
      </p:sp>
    </p:spTree>
    <p:extLst>
      <p:ext uri="{BB962C8B-B14F-4D97-AF65-F5344CB8AC3E}">
        <p14:creationId xmlns:p14="http://schemas.microsoft.com/office/powerpoint/2010/main" val="143761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 működő eredmény">
            <a:extLst>
              <a:ext uri="{FF2B5EF4-FFF2-40B4-BE49-F238E27FC236}">
                <a16:creationId xmlns:a16="http://schemas.microsoft.com/office/drawing/2014/main" id="{10259D0E-2175-427B-9464-75CF654F1EC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működő eredmény</a:t>
            </a:r>
          </a:p>
        </p:txBody>
      </p:sp>
      <p:sp>
        <p:nvSpPr>
          <p:cNvPr id="2" name="3 fős csapat · 4 fejlesztési nap · 16 lezárt issue">
            <a:extLst>
              <a:ext uri="{FF2B5EF4-FFF2-40B4-BE49-F238E27FC236}">
                <a16:creationId xmlns:a16="http://schemas.microsoft.com/office/drawing/2014/main" id="{BCE5921A-BB4B-4103-84AB-0CB5AAD3CA5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0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D3EE"/>
                </a:solidFill>
                <a:latin typeface="Arial"/>
                <a:ea typeface="Arial"/>
                <a:cs typeface="Arial"/>
              </a:rPr>
              <a:t>3 fős csapat · 4 fejlesztési nap · 16 lezárt issue</a:t>
            </a:r>
          </a:p>
        </p:txBody>
      </p:sp>
      <p:sp>
        <p:nvSpPr>
          <p:cNvPr id="3" name="Helyi és online játék Klinika, bank és orvosbotok Demó- és nézői funkc">
            <a:extLst>
              <a:ext uri="{FF2B5EF4-FFF2-40B4-BE49-F238E27FC236}">
                <a16:creationId xmlns:a16="http://schemas.microsoft.com/office/drawing/2014/main" id="{0B62FFB1-A1EC-4F23-AAF6-3189080F7BC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668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Helyi és online játék</a:t>
            </a:r>
          </a:p>
          <a:p>
            <a: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Klinika, bank és orvosbotok</a:t>
            </a:r>
          </a:p>
          <a:p>
            <a:pPr algn="l">
              <a:defRPr sz="30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Demó- és nézői funkciók</a:t>
            </a:r>
          </a:p>
        </p:txBody>
      </p:sp>
      <p:sp>
        <p:nvSpPr>
          <p:cNvPr id="4" name="codeblue.branchlab.tech">
            <a:extLst>
              <a:ext uri="{FF2B5EF4-FFF2-40B4-BE49-F238E27FC236}">
                <a16:creationId xmlns:a16="http://schemas.microsoft.com/office/drawing/2014/main" id="{21040F2E-71B1-46E0-AB55-8C05C9365163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2D3EE"/>
                </a:solidFill>
                <a:latin typeface="Arial"/>
                <a:ea typeface="Arial"/>
                <a:cs typeface="Arial"/>
                <a:hlinkClick r:id="rId3"/>
              </a:rPr>
              <a:t>codeblue.branchlab.tech</a:t>
            </a:r>
          </a:p>
        </p:txBody>
      </p:sp>
      <p:sp>
        <p:nvSpPr>
          <p:cNvPr id="5" name="GitHub · Uni-Sopron / codeblue">
            <a:extLst>
              <a:ext uri="{FF2B5EF4-FFF2-40B4-BE49-F238E27FC236}">
                <a16:creationId xmlns:a16="http://schemas.microsoft.com/office/drawing/2014/main" id="{E94D9686-0339-4E27-9122-32AF1BB4D321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4A3B8"/>
                </a:solidFill>
                <a:latin typeface="Arial"/>
                <a:ea typeface="Arial"/>
                <a:cs typeface="Arial"/>
                <a:hlinkClick r:id="rId4"/>
              </a:rPr>
              <a:t>GitHub · Uni-Sopron / codeblue</a:t>
            </a:r>
          </a:p>
        </p:txBody>
      </p:sp>
      <p:sp>
        <p:nvSpPr>
          <p:cNvPr id="6" name="Fejlesztési segítség: Codex · illusztrációk: AI-képgenerálás">
            <a:extLst>
              <a:ext uri="{FF2B5EF4-FFF2-40B4-BE49-F238E27FC236}">
                <a16:creationId xmlns:a16="http://schemas.microsoft.com/office/drawing/2014/main" id="{9CD87FF3-2B29-4CCD-A56D-C42D1CB529F3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725" b="0" dirty="0" err="1">
                <a:solidFill>
                  <a:srgbClr val="94A3B8"/>
                </a:solidFill>
                <a:latin typeface="Arial"/>
                <a:ea typeface="Arial"/>
                <a:cs typeface="Arial"/>
              </a:rPr>
              <a:t>illusztrációk</a:t>
            </a:r>
            <a:r>
              <a:rPr sz="1725" b="0" dirty="0">
                <a:solidFill>
                  <a:srgbClr val="94A3B8"/>
                </a:solidFill>
                <a:latin typeface="Arial"/>
                <a:ea typeface="Arial"/>
                <a:cs typeface="Arial"/>
              </a:rPr>
              <a:t>: AI-</a:t>
            </a:r>
            <a:r>
              <a:rPr sz="1725" b="0" dirty="0" err="1">
                <a:solidFill>
                  <a:srgbClr val="94A3B8"/>
                </a:solidFill>
                <a:latin typeface="Arial"/>
                <a:ea typeface="Arial"/>
                <a:cs typeface="Arial"/>
              </a:rPr>
              <a:t>képgenerálás</a:t>
            </a:r>
            <a:endParaRPr sz="1725" b="0" dirty="0">
              <a:solidFill>
                <a:srgbClr val="94A3B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89142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deBlue">
      <a:dk1>
        <a:srgbClr val="000000"/>
      </a:dk1>
      <a:lt1>
        <a:srgbClr val="FFFFFF"/>
      </a:lt1>
      <a:dk2>
        <a:srgbClr val="0F172A"/>
      </a:dk2>
      <a:lt2>
        <a:srgbClr val="E2E8F0"/>
      </a:lt2>
      <a:accent1>
        <a:srgbClr val="22D3EE"/>
      </a:accent1>
      <a:accent2>
        <a:srgbClr val="34D399"/>
      </a:accent2>
      <a:accent3>
        <a:srgbClr val="38BDF8"/>
      </a:accent3>
      <a:accent4>
        <a:srgbClr val="A78BFA"/>
      </a:accent4>
      <a:accent5>
        <a:srgbClr val="FBBF24"/>
      </a:accent5>
      <a:accent6>
        <a:srgbClr val="FB7185"/>
      </a:accent6>
      <a:hlink>
        <a:srgbClr val="22D3EE"/>
      </a:hlink>
      <a:folHlink>
        <a:srgbClr val="A78BF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de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odeBlue">
      <a:dk1>
        <a:srgbClr val="000000"/>
      </a:dk1>
      <a:lt1>
        <a:srgbClr val="FFFFFF"/>
      </a:lt1>
      <a:dk2>
        <a:srgbClr val="0F172A"/>
      </a:dk2>
      <a:lt2>
        <a:srgbClr val="E2E8F0"/>
      </a:lt2>
      <a:accent1>
        <a:srgbClr val="22D3EE"/>
      </a:accent1>
      <a:accent2>
        <a:srgbClr val="34D399"/>
      </a:accent2>
      <a:accent3>
        <a:srgbClr val="38BDF8"/>
      </a:accent3>
      <a:accent4>
        <a:srgbClr val="A78BFA"/>
      </a:accent4>
      <a:accent5>
        <a:srgbClr val="FBBF24"/>
      </a:accent5>
      <a:accent6>
        <a:srgbClr val="FB7185"/>
      </a:accent6>
      <a:hlink>
        <a:srgbClr val="22D3EE"/>
      </a:hlink>
      <a:folHlink>
        <a:srgbClr val="A78BFA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de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2244</Words>
  <Application>Microsoft Macintosh PowerPoint</Application>
  <DocSecurity>0</DocSecurity>
  <PresentationFormat>Widescreen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Moldicz Dzsenifer Fanni [STUDENT]</cp:lastModifiedBy>
  <cp:revision>1</cp:revision>
  <dcterms:created xsi:type="dcterms:W3CDTF">2026-10-29T09:36:49Z</dcterms:created>
  <dcterms:modified xsi:type="dcterms:W3CDTF">2026-10-29T09:48:53Z</dcterms:modified>
</cp:coreProperties>
</file>