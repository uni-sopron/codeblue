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33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33A14A-9A78-4F8D-AC50-B27CCCCC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40EB8A-4BB4-439E-B8D6-E2778D211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10AD5-96FF-4D4D-BE3A-C0DF3EA1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500B8D-5656-4582-BA9A-75FA7B6F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32CD6B-4C05-46E5-91EA-F78541E15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3D8DCB-942D-43F8-929E-932C6E24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9633A24-013D-401F-8119-BCB562753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65EB0C4-47DF-4317-A966-CD87AE439EF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502C22-3F4E-4205-A3EB-7C6735FA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E2B022-1741-45C2-92EC-666F4401A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184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deblue.branchlab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8EC08E-0B04-495E-8E15-AC65055C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r="5556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CodeBlue">
            <a:extLst>
              <a:ext uri="{FF2B5EF4-FFF2-40B4-BE49-F238E27FC236}">
                <a16:creationId xmlns:a16="http://schemas.microsoft.com/office/drawing/2014/main" id="{0ED3DF33-B5DA-4BDA-9AB0-B3510F76E90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2197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CodeBlue</a:t>
            </a:r>
          </a:p>
        </p:txBody>
      </p:sp>
      <p:sp>
        <p:nvSpPr>
          <p:cNvPr id="3" name="Magánklinika">
            <a:extLst>
              <a:ext uri="{FF2B5EF4-FFF2-40B4-BE49-F238E27FC236}">
                <a16:creationId xmlns:a16="http://schemas.microsoft.com/office/drawing/2014/main" id="{3C72499A-7CB9-4EF6-9B6F-A74C1E6CAE32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Magánklinika</a:t>
            </a:r>
          </a:p>
        </p:txBody>
      </p:sp>
      <p:sp>
        <p:nvSpPr>
          <p:cNvPr id="4" name="Digitális gazdasági társasjáték">
            <a:extLst>
              <a:ext uri="{FF2B5EF4-FFF2-40B4-BE49-F238E27FC236}">
                <a16:creationId xmlns:a16="http://schemas.microsoft.com/office/drawing/2014/main" id="{4638CED1-7E11-4B15-9B4F-B735DFD63926}"/>
              </a:ext>
            </a:extLst>
          </p:cNvPr>
          <p:cNvSpPr>
            <a:spLocks noGrp="1"/>
          </p:cNvSpPr>
          <p:nvPr/>
        </p:nvSpPr>
        <p:spPr>
          <a:xfrm>
            <a:off x="647700" y="3543300"/>
            <a:ext cx="4876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Digitális gazdasági társasjáték</a:t>
            </a:r>
          </a:p>
        </p:txBody>
      </p:sp>
      <p:sp>
        <p:nvSpPr>
          <p:cNvPr id="5" name="Soproni Egyetem · Hackathon 2026 Október 26–29.">
            <a:extLst>
              <a:ext uri="{FF2B5EF4-FFF2-40B4-BE49-F238E27FC236}">
                <a16:creationId xmlns:a16="http://schemas.microsoft.com/office/drawing/2014/main" id="{D242F8A4-AAF1-4215-82E0-A71B0B8E9BBC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4876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Soproni Egyetem · Hackathon 2026</a:t>
            </a:r>
          </a:p>
          <a:p>
            <a:pPr algn="l">
              <a:buNone/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Október 26–29.</a:t>
            </a:r>
          </a:p>
        </p:txBody>
      </p:sp>
      <p:sp>
        <p:nvSpPr>
          <p:cNvPr id="6" name="Wild Péter · Morvai Márkó Moldicz Dzsenifer Fanni">
            <a:extLst>
              <a:ext uri="{FF2B5EF4-FFF2-40B4-BE49-F238E27FC236}">
                <a16:creationId xmlns:a16="http://schemas.microsoft.com/office/drawing/2014/main" id="{BB63F562-C59C-4C59-A2E6-75EE6F36199E}"/>
              </a:ext>
            </a:extLst>
          </p:cNvPr>
          <p:cNvSpPr>
            <a:spLocks noGrp="1"/>
          </p:cNvSpPr>
          <p:nvPr/>
        </p:nvSpPr>
        <p:spPr>
          <a:xfrm>
            <a:off x="647700" y="5915025"/>
            <a:ext cx="4876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Wild Péter · Morvai Márkó</a:t>
            </a:r>
          </a:p>
          <a:p>
            <a:pPr algn="l">
              <a:buNone/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Moldicz Dzsenifer Fanni</a:t>
            </a:r>
          </a:p>
        </p:txBody>
      </p:sp>
    </p:spTree>
    <p:extLst>
      <p:ext uri="{BB962C8B-B14F-4D97-AF65-F5344CB8AC3E}">
        <p14:creationId xmlns:p14="http://schemas.microsoft.com/office/powerpoint/2010/main" val="202937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 játék története">
            <a:extLst>
              <a:ext uri="{FF2B5EF4-FFF2-40B4-BE49-F238E27FC236}">
                <a16:creationId xmlns:a16="http://schemas.microsoft.com/office/drawing/2014/main" id="{4AEF7E77-3BC4-458E-9B7E-50D6A5498E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játék története</a:t>
            </a:r>
          </a:p>
        </p:txBody>
      </p:sp>
      <p:sp>
        <p:nvSpPr>
          <p:cNvPr id="2" name="A kisorsolt téma: magánklinika">
            <a:extLst>
              <a:ext uri="{FF2B5EF4-FFF2-40B4-BE49-F238E27FC236}">
                <a16:creationId xmlns:a16="http://schemas.microsoft.com/office/drawing/2014/main" id="{42CA575A-723C-4C4E-88A9-97F560F444F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A kisorsolt téma: magánklinika</a:t>
            </a:r>
          </a:p>
        </p:txBody>
      </p:sp>
      <p:sp>
        <p:nvSpPr>
          <p:cNvPr id="3" name="Orvosból klinikaigazgató">
            <a:extLst>
              <a:ext uri="{FF2B5EF4-FFF2-40B4-BE49-F238E27FC236}">
                <a16:creationId xmlns:a16="http://schemas.microsoft.com/office/drawing/2014/main" id="{1F990C10-6F71-4B31-81AC-69B99215EC5B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5000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Orvosból klinikaigazgató</a:t>
            </a:r>
          </a:p>
        </p:txBody>
      </p:sp>
      <p:sp>
        <p:nvSpPr>
          <p:cNvPr id="4" name="Saját magánklinikát indítunk. A bevételekből új részlegeket építü">
            <a:extLst>
              <a:ext uri="{FF2B5EF4-FFF2-40B4-BE49-F238E27FC236}">
                <a16:creationId xmlns:a16="http://schemas.microsoft.com/office/drawing/2014/main" id="{32543B25-41A3-473D-B458-C9F9810C5018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5048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Saját magánklinikát indítunk.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bevételekből új részlegeket építünk,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közben váratlan kiadások érkeznek.</a:t>
            </a:r>
          </a:p>
        </p:txBody>
      </p:sp>
      <p:sp>
        <p:nvSpPr>
          <p:cNvPr id="5" name="Alapötlet: a Gazdálkodj okosan! egészségügyi környezetben.">
            <a:extLst>
              <a:ext uri="{FF2B5EF4-FFF2-40B4-BE49-F238E27FC236}">
                <a16:creationId xmlns:a16="http://schemas.microsoft.com/office/drawing/2014/main" id="{D469F3B1-E98A-437E-AF8C-A62E5C6BF578}"/>
              </a:ext>
            </a:extLst>
          </p:cNvPr>
          <p:cNvSpPr>
            <a:spLocks noGrp="1"/>
          </p:cNvSpPr>
          <p:nvPr/>
        </p:nvSpPr>
        <p:spPr>
          <a:xfrm>
            <a:off x="6096000" y="3390900"/>
            <a:ext cx="5048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Alapötlet: a Gazdálkodj okosan!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egészségügyi környezetben.</a:t>
            </a:r>
          </a:p>
        </p:txBody>
      </p:sp>
    </p:spTree>
    <p:extLst>
      <p:ext uri="{BB962C8B-B14F-4D97-AF65-F5344CB8AC3E}">
        <p14:creationId xmlns:p14="http://schemas.microsoft.com/office/powerpoint/2010/main" val="68543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Építsd fel a saját magánklinikádat">
            <a:extLst>
              <a:ext uri="{FF2B5EF4-FFF2-40B4-BE49-F238E27FC236}">
                <a16:creationId xmlns:a16="http://schemas.microsoft.com/office/drawing/2014/main" id="{BD0A5278-EB28-4E97-B2FC-4F9B86A4C57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Cél és győzelmi feltételek</a:t>
            </a:r>
          </a:p>
        </p:txBody>
      </p:sp>
      <p:sp>
        <p:nvSpPr>
          <p:cNvPr id="2" name="2–4 játékos · helyben vagy online · botokkal is">
            <a:extLst>
              <a:ext uri="{FF2B5EF4-FFF2-40B4-BE49-F238E27FC236}">
                <a16:creationId xmlns:a16="http://schemas.microsoft.com/office/drawing/2014/main" id="{23F02A45-9720-4DB8-87CE-9E011DF8E7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2–4 játékos · helyben vagy online · botokkal is</a:t>
            </a:r>
          </a:p>
        </p:txBody>
      </p:sp>
      <p:sp>
        <p:nvSpPr>
          <p:cNvPr id="3" name="8 / 8">
            <a:extLst>
              <a:ext uri="{FF2B5EF4-FFF2-40B4-BE49-F238E27FC236}">
                <a16:creationId xmlns:a16="http://schemas.microsoft.com/office/drawing/2014/main" id="{08DE03A7-BC5D-4279-BD84-8B602EDE180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4" name="felépített részleg">
            <a:extLst>
              <a:ext uri="{FF2B5EF4-FFF2-40B4-BE49-F238E27FC236}">
                <a16:creationId xmlns:a16="http://schemas.microsoft.com/office/drawing/2014/main" id="{2164B1DD-B8D7-4924-B9C1-B5412CEDB0C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felépített részleg</a:t>
            </a:r>
          </a:p>
        </p:txBody>
      </p:sp>
      <p:sp>
        <p:nvSpPr>
          <p:cNvPr id="5" name="1 millió KK">
            <a:extLst>
              <a:ext uri="{FF2B5EF4-FFF2-40B4-BE49-F238E27FC236}">
                <a16:creationId xmlns:a16="http://schemas.microsoft.com/office/drawing/2014/main" id="{1E9E88D0-F3C0-4D4C-91AC-78C900C13D25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 millió KK</a:t>
            </a:r>
          </a:p>
        </p:txBody>
      </p:sp>
      <p:sp>
        <p:nvSpPr>
          <p:cNvPr id="6" name="legalább ennyi tartalék">
            <a:extLst>
              <a:ext uri="{FF2B5EF4-FFF2-40B4-BE49-F238E27FC236}">
                <a16:creationId xmlns:a16="http://schemas.microsoft.com/office/drawing/2014/main" id="{F6DD259C-07DE-4446-9884-0EBF559C5F20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legalább ennyi tartalék</a:t>
            </a:r>
          </a:p>
        </p:txBody>
      </p:sp>
      <p:sp>
        <p:nvSpPr>
          <p:cNvPr id="7" name="0 KK">
            <a:extLst>
              <a:ext uri="{FF2B5EF4-FFF2-40B4-BE49-F238E27FC236}">
                <a16:creationId xmlns:a16="http://schemas.microsoft.com/office/drawing/2014/main" id="{E3599B67-68A3-401B-AEAE-877F830CAF79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 KK</a:t>
            </a:r>
          </a:p>
        </p:txBody>
      </p:sp>
      <p:sp>
        <p:nvSpPr>
          <p:cNvPr id="8" name="fennálló hiteltartozás">
            <a:extLst>
              <a:ext uri="{FF2B5EF4-FFF2-40B4-BE49-F238E27FC236}">
                <a16:creationId xmlns:a16="http://schemas.microsoft.com/office/drawing/2014/main" id="{23EA5920-5671-4624-A653-9EE4556B7997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fennálló hiteltartozás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4A8EFA-3DA2-43BC-BAEB-94217DE20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0" r="6000"/>
          <a:stretch/>
        </p:blipFill>
        <p:spPr>
          <a:xfrm>
            <a:off x="5257800" y="1809750"/>
            <a:ext cx="6324600" cy="4448175"/>
          </a:xfrm>
          <a:prstGeom prst="rect">
            <a:avLst/>
          </a:prstGeom>
        </p:spPr>
      </p:pic>
      <p:sp>
        <p:nvSpPr>
          <p:cNvPr id="10" name="36 mező · 40 eseménykártya">
            <a:extLst>
              <a:ext uri="{FF2B5EF4-FFF2-40B4-BE49-F238E27FC236}">
                <a16:creationId xmlns:a16="http://schemas.microsoft.com/office/drawing/2014/main" id="{4C1F6CE0-513F-429E-A1B9-20103C558331}"/>
              </a:ext>
            </a:extLst>
          </p:cNvPr>
          <p:cNvSpPr>
            <a:spLocks noGrp="1"/>
          </p:cNvSpPr>
          <p:nvPr/>
        </p:nvSpPr>
        <p:spPr>
          <a:xfrm>
            <a:off x="5467350" y="632606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36 mező és 40 eseménykártya</a:t>
            </a:r>
          </a:p>
        </p:txBody>
      </p:sp>
    </p:spTree>
    <p:extLst>
      <p:ext uri="{BB962C8B-B14F-4D97-AF65-F5344CB8AC3E}">
        <p14:creationId xmlns:p14="http://schemas.microsoft.com/office/powerpoint/2010/main" val="78994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azdálkodás">
            <a:extLst>
              <a:ext uri="{FF2B5EF4-FFF2-40B4-BE49-F238E27FC236}">
                <a16:creationId xmlns:a16="http://schemas.microsoft.com/office/drawing/2014/main" id="{9DD3CDA0-856B-4095-8892-D14554DE9FE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Gazdálkodás</a:t>
            </a:r>
          </a:p>
        </p:txBody>
      </p:sp>
      <p:sp>
        <p:nvSpPr>
          <p:cNvPr id="2" name="A pénznem: KlinikaKredit (KK)">
            <a:extLst>
              <a:ext uri="{FF2B5EF4-FFF2-40B4-BE49-F238E27FC236}">
                <a16:creationId xmlns:a16="http://schemas.microsoft.com/office/drawing/2014/main" id="{83B88B01-548D-4ABD-A3BB-FB241DCD417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A pénznem: KlinikaKredit (KK)</a:t>
            </a:r>
          </a:p>
        </p:txBody>
      </p:sp>
      <p:sp>
        <p:nvSpPr>
          <p:cNvPr id="3" name="1 500 000 KK">
            <a:extLst>
              <a:ext uri="{FF2B5EF4-FFF2-40B4-BE49-F238E27FC236}">
                <a16:creationId xmlns:a16="http://schemas.microsoft.com/office/drawing/2014/main" id="{21EAF6DC-79A5-4880-95F4-8DB1ACD6393A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5429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6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1 500 000 KK</a:t>
            </a:r>
          </a:p>
        </p:txBody>
      </p:sp>
      <p:sp>
        <p:nvSpPr>
          <p:cNvPr id="4" name="kezdőtőke játékosonként">
            <a:extLst>
              <a:ext uri="{FF2B5EF4-FFF2-40B4-BE49-F238E27FC236}">
                <a16:creationId xmlns:a16="http://schemas.microsoft.com/office/drawing/2014/main" id="{A048573E-8687-4911-B0AC-9BC0E97628A4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542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kezdőtőke játékosonként</a:t>
            </a:r>
          </a:p>
        </p:txBody>
      </p:sp>
      <p:sp>
        <p:nvSpPr>
          <p:cNvPr id="5" name="START: +300 000 KK Hitel: 200 000 KK-s egységek">
            <a:extLst>
              <a:ext uri="{FF2B5EF4-FFF2-40B4-BE49-F238E27FC236}">
                <a16:creationId xmlns:a16="http://schemas.microsoft.com/office/drawing/2014/main" id="{1B43EA7C-F46D-49DA-ABD8-18716416D66F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71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START: +300 000 KK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Hitel: 200 000 KK-s egységek</a:t>
            </a:r>
          </a:p>
        </p:txBody>
      </p:sp>
      <p:sp>
        <p:nvSpPr>
          <p:cNvPr id="6" name="Megtakarítás: +3% / START Kötvény: +7% / START, 7 kör lekötés Bio">
            <a:extLst>
              <a:ext uri="{FF2B5EF4-FFF2-40B4-BE49-F238E27FC236}">
                <a16:creationId xmlns:a16="http://schemas.microsoft.com/office/drawing/2014/main" id="{DD457E27-C80B-41E0-A92E-FBF0809B87EC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6000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Megtakarítás: +3% / START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Kötvény: +7% / START, 7 kör lekötés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Biotech: −8% és +15% között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2CA90-586D-4705-86DA-D9A03E4D2C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00" t="2000" r="17000" b="2000"/>
          <a:stretch/>
        </p:blipFill>
        <p:spPr>
          <a:xfrm>
            <a:off x="6924675" y="1828800"/>
            <a:ext cx="46005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2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i tervek">
            <a:extLst>
              <a:ext uri="{FF2B5EF4-FFF2-40B4-BE49-F238E27FC236}">
                <a16:creationId xmlns:a16="http://schemas.microsoft.com/office/drawing/2014/main" id="{396F45E5-AA95-47D1-9B41-4AD1FF397AC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Grafikai tervek</a:t>
            </a:r>
          </a:p>
        </p:txBody>
      </p:sp>
      <p:sp>
        <p:nvSpPr>
          <p:cNvPr id="2" name="Sötét alapon színek, ikonok és orvosi karakterek">
            <a:extLst>
              <a:ext uri="{FF2B5EF4-FFF2-40B4-BE49-F238E27FC236}">
                <a16:creationId xmlns:a16="http://schemas.microsoft.com/office/drawing/2014/main" id="{9953D4A9-2560-4647-80F3-B5C7135DB26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Sötét alapon színek, ikonok és orvosi karakterek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07EEA-EC02-44DC-8309-3461B4C91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0" r="6500"/>
          <a:stretch/>
        </p:blipFill>
        <p:spPr>
          <a:xfrm>
            <a:off x="609600" y="1743075"/>
            <a:ext cx="5638800" cy="4314825"/>
          </a:xfrm>
          <a:prstGeom prst="rect">
            <a:avLst/>
          </a:prstGeom>
        </p:spPr>
      </p:pic>
      <p:sp>
        <p:nvSpPr>
          <p:cNvPr id="4" name="Játéktábla">
            <a:extLst>
              <a:ext uri="{FF2B5EF4-FFF2-40B4-BE49-F238E27FC236}">
                <a16:creationId xmlns:a16="http://schemas.microsoft.com/office/drawing/2014/main" id="{B3553026-1D8C-4C3B-96BA-6493ADA723CD}"/>
              </a:ext>
            </a:extLst>
          </p:cNvPr>
          <p:cNvSpPr>
            <a:spLocks noGrp="1"/>
          </p:cNvSpPr>
          <p:nvPr/>
        </p:nvSpPr>
        <p:spPr>
          <a:xfrm>
            <a:off x="609600" y="6219825"/>
            <a:ext cx="542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Játéktábla</a:t>
            </a:r>
          </a:p>
        </p:txBody>
      </p:sp>
      <p:sp>
        <p:nvSpPr>
          <p:cNvPr id="5" name="Bábuk: négy orvosi portré">
            <a:extLst>
              <a:ext uri="{FF2B5EF4-FFF2-40B4-BE49-F238E27FC236}">
                <a16:creationId xmlns:a16="http://schemas.microsoft.com/office/drawing/2014/main" id="{DE8EC062-8053-4FA0-AFFE-A0A6E6F2A9A0}"/>
              </a:ext>
            </a:extLst>
          </p:cNvPr>
          <p:cNvSpPr>
            <a:spLocks noGrp="1"/>
          </p:cNvSpPr>
          <p:nvPr/>
        </p:nvSpPr>
        <p:spPr>
          <a:xfrm>
            <a:off x="6772275" y="1971675"/>
            <a:ext cx="4791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Bábuk: négy orvosi portré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2ADBA-F80B-468B-8A0E-FF637197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72275" y="2647950"/>
            <a:ext cx="1047750" cy="104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53AAFF-C9E0-4B30-B61E-BA837569C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81950" y="2647950"/>
            <a:ext cx="1047750" cy="104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135A26-469A-44BC-8F59-261FA64CA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91625" y="2647950"/>
            <a:ext cx="1047750" cy="1047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794208-39C3-4C15-81A4-6336EFADDB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401300" y="2647950"/>
            <a:ext cx="1047750" cy="1047750"/>
          </a:xfrm>
          <a:prstGeom prst="rect">
            <a:avLst/>
          </a:prstGeom>
        </p:spPr>
      </p:pic>
      <p:sp>
        <p:nvSpPr>
          <p:cNvPr id="10" name="KK">
            <a:extLst>
              <a:ext uri="{FF2B5EF4-FFF2-40B4-BE49-F238E27FC236}">
                <a16:creationId xmlns:a16="http://schemas.microsoft.com/office/drawing/2014/main" id="{BBFFCE98-215E-44B5-8D4B-92AA71DAB87D}"/>
              </a:ext>
            </a:extLst>
          </p:cNvPr>
          <p:cNvSpPr>
            <a:spLocks noGrp="1"/>
          </p:cNvSpPr>
          <p:nvPr/>
        </p:nvSpPr>
        <p:spPr>
          <a:xfrm>
            <a:off x="6772275" y="4248150"/>
            <a:ext cx="4667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5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1" name="Digitális egyenleg a státuszsoron. A kártyák és a részlegek ugyan">
            <a:extLst>
              <a:ext uri="{FF2B5EF4-FFF2-40B4-BE49-F238E27FC236}">
                <a16:creationId xmlns:a16="http://schemas.microsoft.com/office/drawing/2014/main" id="{D90F3ACE-C409-4E32-9D6B-2C6DCCFE18B8}"/>
              </a:ext>
            </a:extLst>
          </p:cNvPr>
          <p:cNvSpPr>
            <a:spLocks noGrp="1"/>
          </p:cNvSpPr>
          <p:nvPr/>
        </p:nvSpPr>
        <p:spPr>
          <a:xfrm>
            <a:off x="6772275" y="5200650"/>
            <a:ext cx="4810125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Digitális egyenleg a státuszsoron.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kártyák és a részlegek ugyanazt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színvilágot használják.</a:t>
            </a:r>
          </a:p>
        </p:txBody>
      </p:sp>
    </p:spTree>
    <p:extLst>
      <p:ext uri="{BB962C8B-B14F-4D97-AF65-F5344CB8AC3E}">
        <p14:creationId xmlns:p14="http://schemas.microsoft.com/office/powerpoint/2010/main" val="1586523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észlegek és egyedi játékmechanikák">
            <a:extLst>
              <a:ext uri="{FF2B5EF4-FFF2-40B4-BE49-F238E27FC236}">
                <a16:creationId xmlns:a16="http://schemas.microsoft.com/office/drawing/2014/main" id="{97B85119-5B94-4788-95AC-6E040059FE2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Részlegek és egyedi játékmechanikák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149A83-3BB6-4F1D-9B88-CD52FEBA0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6571" y="1781175"/>
            <a:ext cx="5757333" cy="4048125"/>
          </a:xfrm>
          <a:prstGeom prst="rect">
            <a:avLst/>
          </a:prstGeom>
        </p:spPr>
      </p:pic>
      <p:sp>
        <p:nvSpPr>
          <p:cNvPr id="3" name="Mentőmező">
            <a:extLst>
              <a:ext uri="{FF2B5EF4-FFF2-40B4-BE49-F238E27FC236}">
                <a16:creationId xmlns:a16="http://schemas.microsoft.com/office/drawing/2014/main" id="{4CD52C15-E339-4682-BF07-0051D0F5DE9D}"/>
              </a:ext>
            </a:extLst>
          </p:cNvPr>
          <p:cNvSpPr>
            <a:spLocks noGrp="1"/>
          </p:cNvSpPr>
          <p:nvPr/>
        </p:nvSpPr>
        <p:spPr>
          <a:xfrm>
            <a:off x="7496175" y="197167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Mentőmező</a:t>
            </a:r>
          </a:p>
        </p:txBody>
      </p:sp>
      <p:sp>
        <p:nvSpPr>
          <p:cNvPr id="4" name="Azonnali újradobás">
            <a:extLst>
              <a:ext uri="{FF2B5EF4-FFF2-40B4-BE49-F238E27FC236}">
                <a16:creationId xmlns:a16="http://schemas.microsoft.com/office/drawing/2014/main" id="{E306A6CD-1B6C-4E40-9DAB-8DE673AF9D23}"/>
              </a:ext>
            </a:extLst>
          </p:cNvPr>
          <p:cNvSpPr>
            <a:spLocks noGrp="1"/>
          </p:cNvSpPr>
          <p:nvPr/>
        </p:nvSpPr>
        <p:spPr>
          <a:xfrm>
            <a:off x="7496175" y="24384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Azonnali újradobás</a:t>
            </a:r>
          </a:p>
        </p:txBody>
      </p:sp>
      <p:sp>
        <p:nvSpPr>
          <p:cNvPr id="5" name="Orvoskongresszus">
            <a:extLst>
              <a:ext uri="{FF2B5EF4-FFF2-40B4-BE49-F238E27FC236}">
                <a16:creationId xmlns:a16="http://schemas.microsoft.com/office/drawing/2014/main" id="{2BFC8F41-3CBC-4993-B151-047C1EEA6C29}"/>
              </a:ext>
            </a:extLst>
          </p:cNvPr>
          <p:cNvSpPr>
            <a:spLocks noGrp="1"/>
          </p:cNvSpPr>
          <p:nvPr/>
        </p:nvSpPr>
        <p:spPr>
          <a:xfrm>
            <a:off x="7496175" y="33337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Orvoskongresszus</a:t>
            </a:r>
          </a:p>
        </p:txBody>
      </p:sp>
      <p:sp>
        <p:nvSpPr>
          <p:cNvPr id="6" name="+150 000 KK tiszteletdíj">
            <a:extLst>
              <a:ext uri="{FF2B5EF4-FFF2-40B4-BE49-F238E27FC236}">
                <a16:creationId xmlns:a16="http://schemas.microsoft.com/office/drawing/2014/main" id="{4227233C-7C3B-4657-9EEA-F9C06F65C674}"/>
              </a:ext>
            </a:extLst>
          </p:cNvPr>
          <p:cNvSpPr>
            <a:spLocks noGrp="1"/>
          </p:cNvSpPr>
          <p:nvPr/>
        </p:nvSpPr>
        <p:spPr>
          <a:xfrm>
            <a:off x="7496175" y="38004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+150 000 KK tiszteletdíj</a:t>
            </a:r>
          </a:p>
        </p:txBody>
      </p:sp>
      <p:sp>
        <p:nvSpPr>
          <p:cNvPr id="7" name="Telemedicina">
            <a:extLst>
              <a:ext uri="{FF2B5EF4-FFF2-40B4-BE49-F238E27FC236}">
                <a16:creationId xmlns:a16="http://schemas.microsoft.com/office/drawing/2014/main" id="{E3B7033B-AE32-428C-BACE-6C29962AC66C}"/>
              </a:ext>
            </a:extLst>
          </p:cNvPr>
          <p:cNvSpPr>
            <a:spLocks noGrp="1"/>
          </p:cNvSpPr>
          <p:nvPr/>
        </p:nvSpPr>
        <p:spPr>
          <a:xfrm>
            <a:off x="7496175" y="4695825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Telemedicina</a:t>
            </a:r>
          </a:p>
        </p:txBody>
      </p:sp>
      <p:sp>
        <p:nvSpPr>
          <p:cNvPr id="8" name="+40 000 KK részlegenként">
            <a:extLst>
              <a:ext uri="{FF2B5EF4-FFF2-40B4-BE49-F238E27FC236}">
                <a16:creationId xmlns:a16="http://schemas.microsoft.com/office/drawing/2014/main" id="{558C5C96-7EFA-42E5-A7D7-AC9B96EAA9DF}"/>
              </a:ext>
            </a:extLst>
          </p:cNvPr>
          <p:cNvSpPr>
            <a:spLocks noGrp="1"/>
          </p:cNvSpPr>
          <p:nvPr/>
        </p:nvSpPr>
        <p:spPr>
          <a:xfrm>
            <a:off x="7496175" y="51625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+40 000 KK részlegenként</a:t>
            </a:r>
          </a:p>
        </p:txBody>
      </p:sp>
      <p:sp>
        <p:nvSpPr>
          <p:cNvPr id="9" name="8 részleg, építési előfeltételekkel. Szürke: zárolt. Színes: felé">
            <a:extLst>
              <a:ext uri="{FF2B5EF4-FFF2-40B4-BE49-F238E27FC236}">
                <a16:creationId xmlns:a16="http://schemas.microsoft.com/office/drawing/2014/main" id="{1E234BB9-F113-4A49-8DE7-68E9198DE179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0934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8 részleg, építési előfeltételekkel.</a:t>
            </a:r>
          </a:p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Szürke: zárolt. Színes: felépült.</a:t>
            </a:r>
          </a:p>
        </p:txBody>
      </p:sp>
    </p:spTree>
    <p:extLst>
      <p:ext uri="{BB962C8B-B14F-4D97-AF65-F5344CB8AC3E}">
        <p14:creationId xmlns:p14="http://schemas.microsoft.com/office/powerpoint/2010/main" val="113338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gitális prototípus">
            <a:extLst>
              <a:ext uri="{FF2B5EF4-FFF2-40B4-BE49-F238E27FC236}">
                <a16:creationId xmlns:a16="http://schemas.microsoft.com/office/drawing/2014/main" id="{5493E46C-0BAB-4FAD-B6AD-336B4927CFD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Digitális prototípus</a:t>
            </a:r>
          </a:p>
        </p:txBody>
      </p:sp>
      <p:sp>
        <p:nvSpPr>
          <p:cNvPr id="2" name="Böngészőben működő, kattintható játék">
            <a:extLst>
              <a:ext uri="{FF2B5EF4-FFF2-40B4-BE49-F238E27FC236}">
                <a16:creationId xmlns:a16="http://schemas.microsoft.com/office/drawing/2014/main" id="{91FEEEBA-F3F7-4F34-83F2-B26847FEEB8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Böngészőben működő, kattintható játék</a:t>
            </a:r>
          </a:p>
        </p:txBody>
      </p:sp>
      <p:sp>
        <p:nvSpPr>
          <p:cNvPr id="3" name="Helyi játék és orvosbotok">
            <a:extLst>
              <a:ext uri="{FF2B5EF4-FFF2-40B4-BE49-F238E27FC236}">
                <a16:creationId xmlns:a16="http://schemas.microsoft.com/office/drawing/2014/main" id="{EFFD68A2-87E3-42F2-9F14-D931A3CA0FEB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604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Helyi játék és orvosbotok</a:t>
            </a:r>
          </a:p>
        </p:txBody>
      </p:sp>
      <p:sp>
        <p:nvSpPr>
          <p:cNvPr id="4" name="Online szobák, PIN-védelem Visszacsatlakozás és visszavágó Nézői ">
            <a:extLst>
              <a:ext uri="{FF2B5EF4-FFF2-40B4-BE49-F238E27FC236}">
                <a16:creationId xmlns:a16="http://schemas.microsoft.com/office/drawing/2014/main" id="{BCEC87D7-39E3-4AB4-8AB4-0474651E7F59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6000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Online szobák, PIN-védelem</a:t>
            </a:r>
          </a:p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Visszacsatlakozás és visszavágó</a:t>
            </a:r>
          </a:p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Nézői mód élő nézőszámmal</a:t>
            </a:r>
          </a:p>
        </p:txBody>
      </p:sp>
      <p:sp>
        <p:nvSpPr>
          <p:cNvPr id="5" name="Fejlesztői panel és hét hangeffekt a gyors bemutatóhoz.">
            <a:extLst>
              <a:ext uri="{FF2B5EF4-FFF2-40B4-BE49-F238E27FC236}">
                <a16:creationId xmlns:a16="http://schemas.microsoft.com/office/drawing/2014/main" id="{85AA1DDF-1E13-4F80-B175-228876F47E9C}"/>
              </a:ext>
            </a:extLst>
          </p:cNvPr>
          <p:cNvSpPr>
            <a:spLocks noGrp="1"/>
          </p:cNvSpPr>
          <p:nvPr/>
        </p:nvSpPr>
        <p:spPr>
          <a:xfrm>
            <a:off x="609600" y="5343525"/>
            <a:ext cx="6000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Fejlesztői panel és hét hangeffekt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gyors bemutatóhoz.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12C73-69C5-43A9-9400-C41C089B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9859" y="1181100"/>
            <a:ext cx="217524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9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 min dolgozott?">
            <a:extLst>
              <a:ext uri="{FF2B5EF4-FFF2-40B4-BE49-F238E27FC236}">
                <a16:creationId xmlns:a16="http://schemas.microsoft.com/office/drawing/2014/main" id="{8923C9C7-5829-4041-88E3-BE634313406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Ki min dolgozott?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67F331-52BD-4580-A65E-3B2FF3D0BE3F}"/>
              </a:ext>
            </a:extLst>
          </p:cNvPr>
          <p:cNvGraphicFramePr/>
          <p:nvPr/>
        </p:nvGraphicFramePr>
        <p:xfrm>
          <a:off x="609600" y="1952625"/>
          <a:ext cx="10972800" cy="3863340"/>
        </p:xfrm>
        <a:graphic>
          <a:graphicData uri="http://schemas.openxmlformats.org/drawingml/2006/table">
            <a:tbl>
              <a:tblPr/>
              <a:tblGrid>
                <a:gridCol w="39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Csapattag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Fő feladatok</a:t>
                      </a:r>
                    </a:p>
                  </a:txBody>
                  <a:tcPr marL="171450" marR="171450" marT="190500" marB="152400" anchor="ctr">
                    <a:lnL w="9525" cmpd="sng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Wild Péter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Projektalap, játéktábla, multiplayer,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integráció és üzemeltetés</a:t>
                      </a:r>
                    </a:p>
                  </a:txBody>
                  <a:tcPr marL="171450" marR="171450" marT="190500" marB="152400" anchor="ctr">
                    <a:lnL w="9525" cmpd="sng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Morvai Márkó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Játékadatok, szabálymotor,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alap panelek és táblafelület</a:t>
                      </a:r>
                    </a:p>
                  </a:txBody>
                  <a:tcPr marL="171450" marR="171450" marT="190500" marB="152400" anchor="ctr">
                    <a:lnL w="9525" cmpd="sng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Moldicz Dzsenifer Fanni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Tesztpanel, hangok, UI-javítások,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klinika, bank, lobby és botok</a:t>
                      </a:r>
                    </a:p>
                  </a:txBody>
                  <a:tcPr marL="171450" marR="171450" marT="190500" marB="152400" anchor="ctr">
                    <a:lnL w="9525" cmpd="sng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mpd="sng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GitHub: Petya122 · mrkmrv · mdzseni">
            <a:extLst>
              <a:ext uri="{FF2B5EF4-FFF2-40B4-BE49-F238E27FC236}">
                <a16:creationId xmlns:a16="http://schemas.microsoft.com/office/drawing/2014/main" id="{EDD582E6-581C-441E-BF3E-BABC02E4BD53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GitHub: Petya122 · mrkmrv · mdzseni</a:t>
            </a:r>
          </a:p>
        </p:txBody>
      </p:sp>
    </p:spTree>
    <p:extLst>
      <p:ext uri="{BB962C8B-B14F-4D97-AF65-F5344CB8AC3E}">
        <p14:creationId xmlns:p14="http://schemas.microsoft.com/office/powerpoint/2010/main" val="983853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ejlesztés négy nap alatt">
            <a:extLst>
              <a:ext uri="{FF2B5EF4-FFF2-40B4-BE49-F238E27FC236}">
                <a16:creationId xmlns:a16="http://schemas.microsoft.com/office/drawing/2014/main" id="{6349F3AC-38FA-44B0-8083-AA633FC19C0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Fejlesztés négy nap alatt</a:t>
            </a:r>
          </a:p>
        </p:txBody>
      </p:sp>
      <p:sp>
        <p:nvSpPr>
          <p:cNvPr id="2" name="2026. október 26–29.">
            <a:extLst>
              <a:ext uri="{FF2B5EF4-FFF2-40B4-BE49-F238E27FC236}">
                <a16:creationId xmlns:a16="http://schemas.microsoft.com/office/drawing/2014/main" id="{9E3588F7-8925-4355-BE1B-42F8B83BB9B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2026. október 26–29.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B0537E-84E2-48F9-BC29-6428B35B49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825626"/>
              </p:ext>
            </p:extLst>
          </p:nvPr>
        </p:nvGraphicFramePr>
        <p:xfrm>
          <a:off x="609600" y="1847850"/>
          <a:ext cx="10972800" cy="4219576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Nap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Elkészült feladatok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Csapattagok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4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Okt. 26.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Alapjáték, szabálymotor,</a:t>
                      </a:r>
                    </a:p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tesztpanel és online működés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Péter, Márkó, Dzsenifer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4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Okt. 27.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Letisztult tábla, favicon,</a:t>
                      </a:r>
                    </a:p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játékoskártyák és címtérköz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Péter, Márkó, Dzsenifer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4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Okt. 28.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Klinika, bank, lobby, botok,</a:t>
                      </a:r>
                    </a:p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multiplayer és mobiljavítások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Dzsenifer, Péter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4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Okt. 29.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Nézői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mód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védett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demó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</a:p>
                    <a:p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offline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kilépési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hibák</a:t>
                      </a:r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javítása</a:t>
                      </a:r>
                      <a:r>
                        <a:rPr lang="hu-HU"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lang="hu-HU" sz="1950" dirty="0" err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prezi</a:t>
                      </a:r>
                      <a:endParaRPr sz="1950" dirty="0">
                        <a:solidFill>
                          <a:srgbClr val="CBD5E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Péter, Dzsenifer</a:t>
                      </a:r>
                      <a:r>
                        <a:rPr lang="hu-HU" sz="1950" dirty="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, Márkó</a:t>
                      </a:r>
                      <a:endParaRPr sz="1950" dirty="0">
                        <a:solidFill>
                          <a:srgbClr val="CBD5E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0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zközök és megvalósítás">
            <a:extLst>
              <a:ext uri="{FF2B5EF4-FFF2-40B4-BE49-F238E27FC236}">
                <a16:creationId xmlns:a16="http://schemas.microsoft.com/office/drawing/2014/main" id="{F4D76C7C-D0DC-4FA4-BF5F-85CABE4CBDB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Eszközök és megvalósítás</a:t>
            </a:r>
          </a:p>
        </p:txBody>
      </p:sp>
      <p:sp>
        <p:nvSpPr>
          <p:cNvPr id="2" name="Felület">
            <a:extLst>
              <a:ext uri="{FF2B5EF4-FFF2-40B4-BE49-F238E27FC236}">
                <a16:creationId xmlns:a16="http://schemas.microsoft.com/office/drawing/2014/main" id="{B63D8D47-399E-4D5B-82CF-136548C0199B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Felület</a:t>
            </a:r>
          </a:p>
        </p:txBody>
      </p:sp>
      <p:sp>
        <p:nvSpPr>
          <p:cNvPr id="3" name="React, TypeScript, Vite CSS és Lucide ikonok Web Audio API">
            <a:extLst>
              <a:ext uri="{FF2B5EF4-FFF2-40B4-BE49-F238E27FC236}">
                <a16:creationId xmlns:a16="http://schemas.microsoft.com/office/drawing/2014/main" id="{335DF722-27BB-4142-B25F-A774629AFA81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React, TypeScript, Vite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CSS és Lucide ikonok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Web Audio API</a:t>
            </a:r>
          </a:p>
        </p:txBody>
      </p:sp>
      <p:sp>
        <p:nvSpPr>
          <p:cNvPr id="4" name="Online játék">
            <a:extLst>
              <a:ext uri="{FF2B5EF4-FFF2-40B4-BE49-F238E27FC236}">
                <a16:creationId xmlns:a16="http://schemas.microsoft.com/office/drawing/2014/main" id="{EC5B3DED-65EA-48A4-A55E-CCDC43C35142}"/>
              </a:ext>
            </a:extLst>
          </p:cNvPr>
          <p:cNvSpPr>
            <a:spLocks noGrp="1"/>
          </p:cNvSpPr>
          <p:nvPr/>
        </p:nvSpPr>
        <p:spPr>
          <a:xfrm>
            <a:off x="4381500" y="202882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Online játék</a:t>
            </a:r>
          </a:p>
        </p:txBody>
      </p:sp>
      <p:sp>
        <p:nvSpPr>
          <p:cNvPr id="5" name="Node.js és Express Socket.IO Böngészőben futó botok">
            <a:extLst>
              <a:ext uri="{FF2B5EF4-FFF2-40B4-BE49-F238E27FC236}">
                <a16:creationId xmlns:a16="http://schemas.microsoft.com/office/drawing/2014/main" id="{FAAFC363-022A-4299-ACD9-217934E6132E}"/>
              </a:ext>
            </a:extLst>
          </p:cNvPr>
          <p:cNvSpPr>
            <a:spLocks noGrp="1"/>
          </p:cNvSpPr>
          <p:nvPr/>
        </p:nvSpPr>
        <p:spPr>
          <a:xfrm>
            <a:off x="4381500" y="2943225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Node.js és Express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Socket.IO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Böngészőben futó botok</a:t>
            </a:r>
          </a:p>
        </p:txBody>
      </p:sp>
      <p:sp>
        <p:nvSpPr>
          <p:cNvPr id="6" name="Futtatás">
            <a:extLst>
              <a:ext uri="{FF2B5EF4-FFF2-40B4-BE49-F238E27FC236}">
                <a16:creationId xmlns:a16="http://schemas.microsoft.com/office/drawing/2014/main" id="{BCAFB721-0BA5-4321-89D4-949CE0143075}"/>
              </a:ext>
            </a:extLst>
          </p:cNvPr>
          <p:cNvSpPr>
            <a:spLocks noGrp="1"/>
          </p:cNvSpPr>
          <p:nvPr/>
        </p:nvSpPr>
        <p:spPr>
          <a:xfrm>
            <a:off x="8153400" y="202882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Futtatás</a:t>
            </a:r>
          </a:p>
        </p:txBody>
      </p:sp>
      <p:sp>
        <p:nvSpPr>
          <p:cNvPr id="7" name="Docker és Compose Oracle Cloud (OCI) Caddy és HTTPS">
            <a:extLst>
              <a:ext uri="{FF2B5EF4-FFF2-40B4-BE49-F238E27FC236}">
                <a16:creationId xmlns:a16="http://schemas.microsoft.com/office/drawing/2014/main" id="{6F803F27-20C0-4436-8172-5972BC89A4D0}"/>
              </a:ext>
            </a:extLst>
          </p:cNvPr>
          <p:cNvSpPr>
            <a:spLocks noGrp="1"/>
          </p:cNvSpPr>
          <p:nvPr/>
        </p:nvSpPr>
        <p:spPr>
          <a:xfrm>
            <a:off x="8153400" y="2943225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Docker és Compose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Oracle Cloud (OCI)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Caddy és HTTPS</a:t>
            </a:r>
          </a:p>
        </p:txBody>
      </p:sp>
      <p:sp>
        <p:nvSpPr>
          <p:cNvPr id="8" name="GitHub issue-k, külön ágak és pull requestek">
            <a:extLst>
              <a:ext uri="{FF2B5EF4-FFF2-40B4-BE49-F238E27FC236}">
                <a16:creationId xmlns:a16="http://schemas.microsoft.com/office/drawing/2014/main" id="{74764B0E-ED6A-44D4-B00B-CE477C2CCD37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GitHub issue-k, külön ágak és pull requestek</a:t>
            </a:r>
          </a:p>
        </p:txBody>
      </p:sp>
      <p:sp>
        <p:nvSpPr>
          <p:cNvPr id="9" name="Automatikus tesztek, ESLint és TypeScript-ellenőrzés AI-képgenerá">
            <a:extLst>
              <a:ext uri="{FF2B5EF4-FFF2-40B4-BE49-F238E27FC236}">
                <a16:creationId xmlns:a16="http://schemas.microsoft.com/office/drawing/2014/main" id="{33A81AC1-64D8-4456-9FDA-962ACE7F506B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Automatikus tesztek, ESLint és TypeScript-ellenőrzés</a:t>
            </a:r>
          </a:p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AI-képgenerálás a saját illusztrációkhoz</a:t>
            </a:r>
          </a:p>
        </p:txBody>
      </p:sp>
    </p:spTree>
    <p:extLst>
      <p:ext uri="{BB962C8B-B14F-4D97-AF65-F5344CB8AC3E}">
        <p14:creationId xmlns:p14="http://schemas.microsoft.com/office/powerpoint/2010/main" val="143761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hívások és megoldások">
            <a:extLst>
              <a:ext uri="{FF2B5EF4-FFF2-40B4-BE49-F238E27FC236}">
                <a16:creationId xmlns:a16="http://schemas.microsoft.com/office/drawing/2014/main" id="{FDD61718-83F7-415A-B959-03DD862A17A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Kihívások és megoldások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9CFB11-0E5F-4C63-A7B4-9D56A44DEF14}"/>
              </a:ext>
            </a:extLst>
          </p:cNvPr>
          <p:cNvGraphicFramePr/>
          <p:nvPr/>
        </p:nvGraphicFramePr>
        <p:xfrm>
          <a:off x="609600" y="2019300"/>
          <a:ext cx="10972800" cy="3796665"/>
        </p:xfrm>
        <a:graphic>
          <a:graphicData uri="http://schemas.openxmlformats.org/drawingml/2006/table">
            <a:tbl>
              <a:tblPr/>
              <a:tblGrid>
                <a:gridCol w="519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Kihívás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Megoldás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Kilógó játékoskártyák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Rugalmas elrendezés és mobilnézet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Kiszállt játékos visszakerült a körökbe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A szerver őrzi a kiszállt állapotot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4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Az újrajátszás offline játékosra várt</a:t>
                      </a:r>
                    </a:p>
                  </a:txBody>
                  <a:tcPr marL="171450" marR="171450" marT="161925" marB="13335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Egységes résztvevőlista és időzítők</a:t>
                      </a:r>
                    </a:p>
                  </a:txBody>
                  <a:tcPr marL="171450" marR="171450" marT="161925" marB="13335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955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sztelés, tapasztalatok és eredmények">
            <a:extLst>
              <a:ext uri="{FF2B5EF4-FFF2-40B4-BE49-F238E27FC236}">
                <a16:creationId xmlns:a16="http://schemas.microsoft.com/office/drawing/2014/main" id="{9DBF8ECE-4327-427D-B1DB-5C650C706B2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Tesztelés, tapasztalatok és eredmények</a:t>
            </a:r>
          </a:p>
        </p:txBody>
      </p:sp>
      <p:sp>
        <p:nvSpPr>
          <p:cNvPr id="2" name="188">
            <a:extLst>
              <a:ext uri="{FF2B5EF4-FFF2-40B4-BE49-F238E27FC236}">
                <a16:creationId xmlns:a16="http://schemas.microsoft.com/office/drawing/2014/main" id="{5F2022A4-262B-4668-97EF-F604938837A2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4286250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188</a:t>
            </a:r>
          </a:p>
        </p:txBody>
      </p:sp>
      <p:sp>
        <p:nvSpPr>
          <p:cNvPr id="3" name="sikeres automatizált teszt">
            <a:extLst>
              <a:ext uri="{FF2B5EF4-FFF2-40B4-BE49-F238E27FC236}">
                <a16:creationId xmlns:a16="http://schemas.microsoft.com/office/drawing/2014/main" id="{F1FC564A-EC61-448F-B9B0-45B98F9746B6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4667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sikeres automatizált teszt</a:t>
            </a:r>
          </a:p>
        </p:txBody>
      </p:sp>
      <p:sp>
        <p:nvSpPr>
          <p:cNvPr id="4" name="A lint és a build is sikeres. Helyi és online próbajátékok.">
            <a:extLst>
              <a:ext uri="{FF2B5EF4-FFF2-40B4-BE49-F238E27FC236}">
                <a16:creationId xmlns:a16="http://schemas.microsoft.com/office/drawing/2014/main" id="{ADC1D89B-0408-4C4C-955C-20680623CE04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4667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lint és a build is sikeres.</a:t>
            </a: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Helyi és online próbajátékok.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0EB11-D15B-480F-9F6D-A58FA5AA8A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0" b="13000"/>
          <a:stretch/>
        </p:blipFill>
        <p:spPr>
          <a:xfrm>
            <a:off x="7620000" y="1619250"/>
            <a:ext cx="2143125" cy="3810000"/>
          </a:xfrm>
          <a:prstGeom prst="rect">
            <a:avLst/>
          </a:prstGeom>
        </p:spPr>
      </p:pic>
      <p:sp>
        <p:nvSpPr>
          <p:cNvPr id="6" name="Tanulság: a hálózati hibák is játékszabályt igényelnek.">
            <a:extLst>
              <a:ext uri="{FF2B5EF4-FFF2-40B4-BE49-F238E27FC236}">
                <a16:creationId xmlns:a16="http://schemas.microsoft.com/office/drawing/2014/main" id="{0A8AA995-3A92-49D5-BACD-8B320E9D1096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Tanulság: a hálózati hibák is játékszabályt igényelnek.</a:t>
            </a:r>
          </a:p>
        </p:txBody>
      </p:sp>
      <p:sp>
        <p:nvSpPr>
          <p:cNvPr id="7" name="Következő lépés: a hosszú meccsek egyensúlyának tesztelése.">
            <a:extLst>
              <a:ext uri="{FF2B5EF4-FFF2-40B4-BE49-F238E27FC236}">
                <a16:creationId xmlns:a16="http://schemas.microsoft.com/office/drawing/2014/main" id="{EB42AB81-5D67-4AC5-8438-C9C3A8DF7ED1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Következő lépés: a hosszú meccsek egyensúlyának tesztelése.</a:t>
            </a:r>
          </a:p>
        </p:txBody>
      </p:sp>
    </p:spTree>
    <p:extLst>
      <p:ext uri="{BB962C8B-B14F-4D97-AF65-F5344CB8AC3E}">
        <p14:creationId xmlns:p14="http://schemas.microsoft.com/office/powerpoint/2010/main" val="102362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gy játékos köre: dobás és építkezés">
            <a:extLst>
              <a:ext uri="{FF2B5EF4-FFF2-40B4-BE49-F238E27FC236}">
                <a16:creationId xmlns:a16="http://schemas.microsoft.com/office/drawing/2014/main" id="{BC09D4E9-0FD6-46A3-A9F2-4713BFE8F99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Egy játékos köre: dobás és építkezés</a:t>
            </a:r>
          </a:p>
        </p:txBody>
      </p:sp>
      <p:sp>
        <p:nvSpPr>
          <p:cNvPr id="2" name="Valódi interakciók a helyi prototípusban">
            <a:extLst>
              <a:ext uri="{FF2B5EF4-FFF2-40B4-BE49-F238E27FC236}">
                <a16:creationId xmlns:a16="http://schemas.microsoft.com/office/drawing/2014/main" id="{6D0ECFEF-819C-40B6-B5B4-E786D5A8D61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Valódi interakciók a helyi prototípusban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0448A-2345-4B3E-9262-B3144762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0" r="6500"/>
          <a:stretch/>
        </p:blipFill>
        <p:spPr>
          <a:xfrm>
            <a:off x="609600" y="2095500"/>
            <a:ext cx="5238750" cy="3676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5B06D-04C0-4A6F-9426-B24D625AC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2460427"/>
            <a:ext cx="5238750" cy="2946797"/>
          </a:xfrm>
          <a:prstGeom prst="rect">
            <a:avLst/>
          </a:prstGeom>
        </p:spPr>
      </p:pic>
      <p:sp>
        <p:nvSpPr>
          <p:cNvPr id="5" name="1. Dobás és mezőhatás">
            <a:extLst>
              <a:ext uri="{FF2B5EF4-FFF2-40B4-BE49-F238E27FC236}">
                <a16:creationId xmlns:a16="http://schemas.microsoft.com/office/drawing/2014/main" id="{C3AE5028-9D39-47A2-B403-A1EA298F265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1. Dobás és mezőhatás</a:t>
            </a:r>
          </a:p>
        </p:txBody>
      </p:sp>
      <p:sp>
        <p:nvSpPr>
          <p:cNvPr id="6" name="2. Részleg kiválasztása">
            <a:extLst>
              <a:ext uri="{FF2B5EF4-FFF2-40B4-BE49-F238E27FC236}">
                <a16:creationId xmlns:a16="http://schemas.microsoft.com/office/drawing/2014/main" id="{4AE3CFBF-52DA-4517-B000-04F4908C2282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2. Részleg kiválasztása</a:t>
            </a:r>
          </a:p>
        </p:txBody>
      </p:sp>
      <p:sp>
        <p:nvSpPr>
          <p:cNvPr id="7" name="Dobás: 1. A pihenőmező nem kér pénzt.">
            <a:extLst>
              <a:ext uri="{FF2B5EF4-FFF2-40B4-BE49-F238E27FC236}">
                <a16:creationId xmlns:a16="http://schemas.microsoft.com/office/drawing/2014/main" id="{F12C0E0E-3F36-490E-BEF5-F842F55071EC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523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Dobás: 1. A pihenőmező nem kér pénzt.</a:t>
            </a:r>
          </a:p>
        </p:txBody>
      </p:sp>
      <p:sp>
        <p:nvSpPr>
          <p:cNvPr id="8" name="Recepció: 400 000 KK. Kezdőegyenleg: 1 500 000 KK.">
            <a:extLst>
              <a:ext uri="{FF2B5EF4-FFF2-40B4-BE49-F238E27FC236}">
                <a16:creationId xmlns:a16="http://schemas.microsoft.com/office/drawing/2014/main" id="{9A72C8EA-5CFB-4CDA-868D-F018C9418807}"/>
              </a:ext>
            </a:extLst>
          </p:cNvPr>
          <p:cNvSpPr>
            <a:spLocks noGrp="1"/>
          </p:cNvSpPr>
          <p:nvPr/>
        </p:nvSpPr>
        <p:spPr>
          <a:xfrm>
            <a:off x="6343650" y="6057900"/>
            <a:ext cx="523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Recepció: 400 000 KK.</a:t>
            </a:r>
          </a:p>
          <a:p>
            <a:pPr algn="l">
              <a:defRPr sz="19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Kezdőegyenleg: 1 500 000 KK.</a:t>
            </a:r>
          </a:p>
        </p:txBody>
      </p:sp>
    </p:spTree>
    <p:extLst>
      <p:ext uri="{BB962C8B-B14F-4D97-AF65-F5344CB8AC3E}">
        <p14:creationId xmlns:p14="http://schemas.microsoft.com/office/powerpoint/2010/main" val="184177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gy játékos köre: vásárlás és körátadás">
            <a:extLst>
              <a:ext uri="{FF2B5EF4-FFF2-40B4-BE49-F238E27FC236}">
                <a16:creationId xmlns:a16="http://schemas.microsoft.com/office/drawing/2014/main" id="{23691910-0EDF-4995-B58C-BC61CBB8A19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Egy játékos köre: vásárlás és körátadás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02F51-C042-4A44-B076-2AEB68476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369939"/>
            <a:ext cx="5238750" cy="2946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88A3D7-742F-482B-9580-DF5C608FC8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00" r="6500"/>
          <a:stretch/>
        </p:blipFill>
        <p:spPr>
          <a:xfrm>
            <a:off x="6343650" y="1981200"/>
            <a:ext cx="5238750" cy="3724275"/>
          </a:xfrm>
          <a:prstGeom prst="rect">
            <a:avLst/>
          </a:prstGeom>
        </p:spPr>
      </p:pic>
      <p:sp>
        <p:nvSpPr>
          <p:cNvPr id="4" name="3. Vásárlás végrehajtása">
            <a:extLst>
              <a:ext uri="{FF2B5EF4-FFF2-40B4-BE49-F238E27FC236}">
                <a16:creationId xmlns:a16="http://schemas.microsoft.com/office/drawing/2014/main" id="{8B3D8B90-4EDC-4D7E-9121-F8235C419B6C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3. Vásárlás végrehajtása</a:t>
            </a:r>
          </a:p>
        </p:txBody>
      </p:sp>
      <p:sp>
        <p:nvSpPr>
          <p:cNvPr id="5" name="4. Kör befejezése">
            <a:extLst>
              <a:ext uri="{FF2B5EF4-FFF2-40B4-BE49-F238E27FC236}">
                <a16:creationId xmlns:a16="http://schemas.microsoft.com/office/drawing/2014/main" id="{67A34479-E703-43E3-9486-5563DC7DA706}"/>
              </a:ext>
            </a:extLst>
          </p:cNvPr>
          <p:cNvSpPr>
            <a:spLocks noGrp="1"/>
          </p:cNvSpPr>
          <p:nvPr/>
        </p:nvSpPr>
        <p:spPr>
          <a:xfrm>
            <a:off x="6343650" y="145732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4. Kör befejezése</a:t>
            </a:r>
          </a:p>
        </p:txBody>
      </p:sp>
      <p:sp>
        <p:nvSpPr>
          <p:cNvPr id="6" name="1 / 8 részleg felépült. Maradó készpénz: 1 100 000 KK.">
            <a:extLst>
              <a:ext uri="{FF2B5EF4-FFF2-40B4-BE49-F238E27FC236}">
                <a16:creationId xmlns:a16="http://schemas.microsoft.com/office/drawing/2014/main" id="{875F131D-A87B-4A5C-B305-7663ADE17725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5238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1 / 8 részleg felépült.</a:t>
            </a:r>
          </a:p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Maradó készpénz: 1 100 000 KK.</a:t>
            </a:r>
          </a:p>
        </p:txBody>
      </p:sp>
      <p:sp>
        <p:nvSpPr>
          <p:cNvPr id="7" name="A következő orvos dobhat. Újabb részleg a következő saját körben.">
            <a:extLst>
              <a:ext uri="{FF2B5EF4-FFF2-40B4-BE49-F238E27FC236}">
                <a16:creationId xmlns:a16="http://schemas.microsoft.com/office/drawing/2014/main" id="{22D4A169-2F25-4016-AC40-E2D96DA5C8D5}"/>
              </a:ext>
            </a:extLst>
          </p:cNvPr>
          <p:cNvSpPr>
            <a:spLocks noGrp="1"/>
          </p:cNvSpPr>
          <p:nvPr/>
        </p:nvSpPr>
        <p:spPr>
          <a:xfrm>
            <a:off x="6343650" y="5962650"/>
            <a:ext cx="5238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 következő orvos dobhat.</a:t>
            </a:r>
          </a:p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Újabb részleg a következő saját körben.</a:t>
            </a:r>
          </a:p>
        </p:txBody>
      </p:sp>
    </p:spTree>
    <p:extLst>
      <p:ext uri="{BB962C8B-B14F-4D97-AF65-F5344CB8AC3E}">
        <p14:creationId xmlns:p14="http://schemas.microsoft.com/office/powerpoint/2010/main" val="83915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Élő játékbemutató">
            <a:extLst>
              <a:ext uri="{FF2B5EF4-FFF2-40B4-BE49-F238E27FC236}">
                <a16:creationId xmlns:a16="http://schemas.microsoft.com/office/drawing/2014/main" id="{B9F65D52-27D4-48AB-A1BF-18B654A51FD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Élő játékbemutató</a:t>
            </a:r>
          </a:p>
        </p:txBody>
      </p:sp>
      <p:sp>
        <p:nvSpPr>
          <p:cNvPr id="2" name="A prototípus interakciói a böngészőben">
            <a:extLst>
              <a:ext uri="{FF2B5EF4-FFF2-40B4-BE49-F238E27FC236}">
                <a16:creationId xmlns:a16="http://schemas.microsoft.com/office/drawing/2014/main" id="{DE15C9EA-DFFD-4DB8-8C84-FA8D6FAF053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A prototípus interakciói a böngészőben</a:t>
            </a:r>
          </a:p>
        </p:txBody>
      </p:sp>
      <p:sp>
        <p:nvSpPr>
          <p:cNvPr id="3" name="Helyi játék indítása Dobás, esemény és részlegvásárlás Bank, boto">
            <a:extLst>
              <a:ext uri="{FF2B5EF4-FFF2-40B4-BE49-F238E27FC236}">
                <a16:creationId xmlns:a16="http://schemas.microsoft.com/office/drawing/2014/main" id="{64B3F552-4385-495C-A282-5D88698D366E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347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Helyi játék indítása</a:t>
            </a:r>
          </a:p>
          <a:p>
            <a: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Dobás, esemény és részlegvásárlás</a:t>
            </a:r>
          </a:p>
          <a:p>
            <a:pPr algn="l">
              <a:defRPr sz="27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Bank, botok és online szobák</a:t>
            </a:r>
          </a:p>
        </p:txBody>
      </p:sp>
      <p:sp>
        <p:nvSpPr>
          <p:cNvPr id="4" name="Helyi demó megnyitása">
            <a:extLst>
              <a:ext uri="{FF2B5EF4-FFF2-40B4-BE49-F238E27FC236}">
                <a16:creationId xmlns:a16="http://schemas.microsoft.com/office/drawing/2014/main" id="{ADA73308-C427-4B55-9BA7-EFCA2A6DD273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934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2D3EE"/>
                </a:solidFill>
                <a:latin typeface="Arial"/>
                <a:ea typeface="Arial"/>
                <a:cs typeface="Arial"/>
                <a:hlinkClick r:id="rId3"/>
              </a:rPr>
              <a:t>Helyi demó megnyitása</a:t>
            </a:r>
          </a:p>
        </p:txBody>
      </p:sp>
      <p:sp>
        <p:nvSpPr>
          <p:cNvPr id="5" name="codeblue.branchlab.tech">
            <a:extLst>
              <a:ext uri="{FF2B5EF4-FFF2-40B4-BE49-F238E27FC236}">
                <a16:creationId xmlns:a16="http://schemas.microsoft.com/office/drawing/2014/main" id="{3CADDC26-96FB-4002-AEDE-D5A6D81E3B29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347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  <a:hlinkClick r:id="rId4"/>
              </a:rPr>
              <a:t>codeblue.branchlab.tech</a:t>
            </a:r>
          </a:p>
        </p:txBody>
      </p:sp>
      <p:sp>
        <p:nvSpPr>
          <p:cNvPr id="6" name="Illusztrációk: AI-képgenerálás">
            <a:extLst>
              <a:ext uri="{FF2B5EF4-FFF2-40B4-BE49-F238E27FC236}">
                <a16:creationId xmlns:a16="http://schemas.microsoft.com/office/drawing/2014/main" id="{32440DA7-86F6-4E39-B619-337D5A66F59A}"/>
              </a:ext>
            </a:extLst>
          </p:cNvPr>
          <p:cNvSpPr>
            <a:spLocks noGrp="1"/>
          </p:cNvSpPr>
          <p:nvPr/>
        </p:nvSpPr>
        <p:spPr>
          <a:xfrm>
            <a:off x="609600" y="6296025"/>
            <a:ext cx="1093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Illusztrációk: AI-képgenerálás</a:t>
            </a:r>
          </a:p>
        </p:txBody>
      </p:sp>
    </p:spTree>
    <p:extLst>
      <p:ext uri="{BB962C8B-B14F-4D97-AF65-F5344CB8AC3E}">
        <p14:creationId xmlns:p14="http://schemas.microsoft.com/office/powerpoint/2010/main" val="6689142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deBlue">
      <a:dk1>
        <a:srgbClr val="000000"/>
      </a:dk1>
      <a:lt1>
        <a:srgbClr val="FFFFFF"/>
      </a:lt1>
      <a:dk2>
        <a:srgbClr val="0F172A"/>
      </a:dk2>
      <a:lt2>
        <a:srgbClr val="E2E8F0"/>
      </a:lt2>
      <a:accent1>
        <a:srgbClr val="22D3EE"/>
      </a:accent1>
      <a:accent2>
        <a:srgbClr val="34D399"/>
      </a:accent2>
      <a:accent3>
        <a:srgbClr val="38BDF8"/>
      </a:accent3>
      <a:accent4>
        <a:srgbClr val="A78BFA"/>
      </a:accent4>
      <a:accent5>
        <a:srgbClr val="FBBF24"/>
      </a:accent5>
      <a:accent6>
        <a:srgbClr val="FB7185"/>
      </a:accent6>
      <a:hlink>
        <a:srgbClr val="22D3EE"/>
      </a:hlink>
      <a:folHlink>
        <a:srgbClr val="A78BF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de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odeBlue">
      <a:dk1>
        <a:srgbClr val="000000"/>
      </a:dk1>
      <a:lt1>
        <a:srgbClr val="FFFFFF"/>
      </a:lt1>
      <a:dk2>
        <a:srgbClr val="0F172A"/>
      </a:dk2>
      <a:lt2>
        <a:srgbClr val="E2E8F0"/>
      </a:lt2>
      <a:accent1>
        <a:srgbClr val="22D3EE"/>
      </a:accent1>
      <a:accent2>
        <a:srgbClr val="34D399"/>
      </a:accent2>
      <a:accent3>
        <a:srgbClr val="38BDF8"/>
      </a:accent3>
      <a:accent4>
        <a:srgbClr val="A78BFA"/>
      </a:accent4>
      <a:accent5>
        <a:srgbClr val="FBBF24"/>
      </a:accent5>
      <a:accent6>
        <a:srgbClr val="FB7185"/>
      </a:accent6>
      <a:hlink>
        <a:srgbClr val="22D3EE"/>
      </a:hlink>
      <a:folHlink>
        <a:srgbClr val="A78BF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de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Macintosh PowerPoint</Application>
  <DocSecurity>0</DocSecurity>
  <PresentationFormat>Widescreen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Moldicz Dzsenifer Fanni [STUDENT]</cp:lastModifiedBy>
  <cp:revision>1</cp:revision>
  <dcterms:created xsi:type="dcterms:W3CDTF">2026-10-29T11:01:23Z</dcterms:created>
  <dcterms:modified xsi:type="dcterms:W3CDTF">2026-10-29T11:09:03Z</dcterms:modified>
</cp:coreProperties>
</file>